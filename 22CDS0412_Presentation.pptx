
<file path=[Content_Types].xml><?xml version="1.0" encoding="utf-8"?>
<Types xmlns="http://schemas.openxmlformats.org/package/2006/content-types">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embeddedFontLst>
    <p:embeddedFont>
      <p:font typeface="Fraunces" panose="020B0604020202020204" charset="0"/>
      <p:regular r:id="rId9"/>
      <p:bold r:id="rId10"/>
    </p:embeddedFont>
    <p:embeddedFont>
      <p:font typeface="Calibri" panose="020F0502020204030204" pitchFamily="34" charset="0"/>
      <p:regular r:id="rId11"/>
      <p:bold r:id="rId12"/>
      <p:italic r:id="rId13"/>
      <p:boldItalic r:id="rId1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8" d="100"/>
          <a:sy n="68" d="100"/>
        </p:scale>
        <p:origin x="49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font" Target="fonts/font5.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4.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557883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chain reaction: one blocked pipe pushes water onto others, which can overload and fail. The question is how to spend a limited reinforcement budget. Scope is deliberately small.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Cascade theory gives the mechanism, graph studies of drainage find critical pipes, risk-based maintenance gives the decision framing. Each misses one piece. Sources: Motter and Lai, Crucitti et al., Motter, Rajabi et al., Ulusoy et al., Hajibabaei et al., Berardi et al.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The score blends individual risk with betweenness from demand nodes to outlets. Every strategy gets the same budget, the same reinforcement effect and the same random failures. The model is a routing approximation, not a hydraulic simulator.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Headline result. On failed pipes the graph rule is not significantly different from risk-only after correction. On unmet demand it wins in 11 of 12 cells. Grey is no intervention (D), blue is risk-only (A), orange is the proposed rule (B). Lower is better.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Gains fade as rain intensifies because a few reinforced pipes cannot stop widespread overload. The structural score is most useful when risk estimates are poor. Betweenness is a moderate proxy for true criticality in this model.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answer to the research question: partly. Explain why the two metrics diverge, state the limits plainly, and end on validation with real data as the next step.</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0E2A35"/>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0115"/>
            <a:ext cx="10566400" cy="419100"/>
          </a:xfrm>
          <a:prstGeom prst="rect">
            <a:avLst/>
          </a:prstGeom>
          <a:noFill/>
          <a:ln/>
        </p:spPr>
        <p:txBody>
          <a:bodyPr wrap="square" lIns="0" tIns="0" rIns="0" bIns="0" rtlCol="0" anchor="t"/>
          <a:lstStyle>
            <a:lvl1pPr marL="0" indent="0" algn="l">
              <a:lnSpc>
                <a:spcPct val="115000"/>
              </a:lnSpc>
              <a:buNone/>
              <a:defRPr lang="en-US" sz="3000" dirty="0">
                <a:solidFill>
                  <a:srgbClr val="F4F1EA"/>
                </a:solidFill>
                <a:latin typeface="Fraunces" pitchFamily="34" charset="0"/>
                <a:ea typeface="Fraunces" pitchFamily="34" charset="-122"/>
                <a:cs typeface="Fraunces"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844015"/>
            <a:ext cx="10566400" cy="4201185"/>
          </a:xfrm>
          <a:prstGeom prst="rect">
            <a:avLst/>
          </a:prstGeom>
          <a:noFill/>
          <a:ln/>
        </p:spPr>
        <p:txBody>
          <a:bodyPr wrap="square" lIns="0" tIns="0" rIns="0" bIns="0" rtlCol="0" anchor="t"/>
          <a:lstStyle>
            <a:lvl1pPr marL="0" indent="0" algn="l">
              <a:lnSpc>
                <a:spcPct val="140000"/>
              </a:lnSpc>
              <a:buNone/>
              <a:defRPr lang="en-US" sz="1600" dirty="0">
                <a:solidFill>
                  <a:srgbClr val="F4F1EA"/>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E2A35"/>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0115"/>
            <a:ext cx="10566400" cy="419100"/>
          </a:xfrm>
          <a:prstGeom prst="rect">
            <a:avLst/>
          </a:prstGeom>
          <a:noFill/>
          <a:ln/>
        </p:spPr>
        <p:txBody>
          <a:bodyPr wrap="square" lIns="0" tIns="0" rIns="0" bIns="0" rtlCol="0" anchor="t"/>
          <a:lstStyle>
            <a:lvl1pPr marL="0" indent="0" algn="l">
              <a:lnSpc>
                <a:spcPct val="115000"/>
              </a:lnSpc>
              <a:buNone/>
              <a:defRPr lang="en-US" sz="3000" dirty="0">
                <a:solidFill>
                  <a:srgbClr val="F4F1EA"/>
                </a:solidFill>
                <a:latin typeface="Fraunces" pitchFamily="34" charset="0"/>
                <a:ea typeface="Fraunces" pitchFamily="34" charset="-122"/>
                <a:cs typeface="Fraunces"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844015"/>
            <a:ext cx="10566400" cy="4201185"/>
          </a:xfrm>
          <a:prstGeom prst="rect">
            <a:avLst/>
          </a:prstGeom>
          <a:noFill/>
          <a:ln/>
        </p:spPr>
        <p:txBody>
          <a:bodyPr wrap="square" lIns="0" tIns="0" rIns="0" bIns="0" rtlCol="0" anchor="t"/>
          <a:lstStyle>
            <a:lvl1pPr marL="0" indent="0" algn="l">
              <a:lnSpc>
                <a:spcPct val="140000"/>
              </a:lnSpc>
              <a:buNone/>
              <a:defRPr lang="en-US" sz="1600" dirty="0">
                <a:solidFill>
                  <a:srgbClr val="F4F1EA"/>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A35"/>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08A3C"/>
                </a:solidFill>
                <a:latin typeface="IBM Plex Sans" pitchFamily="34" charset="0"/>
                <a:ea typeface="IBM Plex Sans" pitchFamily="34" charset="-122"/>
                <a:cs typeface="IBM Plex Sans" pitchFamily="34" charset="-120"/>
              </a:rPr>
              <a:t>01 · Introduction and background</a:t>
            </a:r>
            <a:endParaRPr lang="en-US" sz="1300" dirty="0"/>
          </a:p>
        </p:txBody>
      </p:sp>
      <p:sp>
        <p:nvSpPr>
          <p:cNvPr id="3" name="Text 1"/>
          <p:cNvSpPr>
            <a:spLocks noGrp="1"/>
          </p:cNvSpPr>
          <p:nvPr>
            <p:ph type="title"/>
          </p:nvPr>
        </p:nvSpPr>
        <p:spPr>
          <a:xfrm>
            <a:off x="812800" y="1351889"/>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F4F1EA"/>
                </a:solidFill>
                <a:latin typeface="Fraunces" pitchFamily="18" charset="0"/>
                <a:ea typeface="Fraunces" pitchFamily="18" charset="-122"/>
                <a:cs typeface="Fraunces" pitchFamily="18" charset="-120"/>
              </a:rPr>
              <a:t>Stopping the chain reaction in drainage</a:t>
            </a:r>
            <a:endParaRPr lang="en-US" sz="3000" dirty="0"/>
          </a:p>
        </p:txBody>
      </p:sp>
      <p:sp>
        <p:nvSpPr>
          <p:cNvPr id="4" name="Shape 2"/>
          <p:cNvSpPr/>
          <p:nvPr/>
        </p:nvSpPr>
        <p:spPr>
          <a:xfrm>
            <a:off x="812800" y="1847189"/>
            <a:ext cx="762000" cy="25400"/>
          </a:xfrm>
          <a:prstGeom prst="rect">
            <a:avLst/>
          </a:prstGeom>
          <a:solidFill>
            <a:srgbClr val="F08A3C"/>
          </a:solidFill>
          <a:ln/>
        </p:spPr>
      </p:sp>
      <p:sp>
        <p:nvSpPr>
          <p:cNvPr id="5" name="Shape 3"/>
          <p:cNvSpPr/>
          <p:nvPr/>
        </p:nvSpPr>
        <p:spPr>
          <a:xfrm>
            <a:off x="812800" y="2403244"/>
            <a:ext cx="3403600" cy="1494631"/>
          </a:xfrm>
          <a:prstGeom prst="roundRect">
            <a:avLst>
              <a:gd name="adj" fmla="val 6798"/>
            </a:avLst>
          </a:prstGeom>
          <a:solidFill>
            <a:srgbClr val="153844"/>
          </a:solidFill>
          <a:ln/>
        </p:spPr>
      </p:sp>
      <p:sp>
        <p:nvSpPr>
          <p:cNvPr id="6" name="Text 4"/>
          <p:cNvSpPr/>
          <p:nvPr/>
        </p:nvSpPr>
        <p:spPr>
          <a:xfrm>
            <a:off x="1041400" y="2631844"/>
            <a:ext cx="303479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08A3C"/>
                </a:solidFill>
                <a:latin typeface="IBM Plex Sans" pitchFamily="34" charset="0"/>
                <a:ea typeface="IBM Plex Sans" pitchFamily="34" charset="-122"/>
                <a:cs typeface="IBM Plex Sans" pitchFamily="34" charset="-120"/>
              </a:rPr>
              <a:t>The problem</a:t>
            </a:r>
            <a:endParaRPr lang="en-US" sz="1500" dirty="0"/>
          </a:p>
        </p:txBody>
      </p:sp>
      <p:sp>
        <p:nvSpPr>
          <p:cNvPr id="7" name="Text 5"/>
          <p:cNvSpPr/>
          <p:nvPr/>
        </p:nvSpPr>
        <p:spPr>
          <a:xfrm>
            <a:off x="1041400" y="2949344"/>
            <a:ext cx="3034792" cy="745331"/>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F4F1EA"/>
                </a:solidFill>
                <a:latin typeface="IBM Plex Sans" pitchFamily="34" charset="0"/>
                <a:ea typeface="IBM Plex Sans" pitchFamily="34" charset="-122"/>
                <a:cs typeface="IBM Plex Sans" pitchFamily="34" charset="-120"/>
              </a:rPr>
              <a:t>When one pipe fails, its water loads its neighbours, and the failure can spread.</a:t>
            </a:r>
            <a:endParaRPr lang="en-US" sz="1400" dirty="0"/>
          </a:p>
        </p:txBody>
      </p:sp>
      <p:sp>
        <p:nvSpPr>
          <p:cNvPr id="8" name="Shape 6"/>
          <p:cNvSpPr/>
          <p:nvPr/>
        </p:nvSpPr>
        <p:spPr>
          <a:xfrm>
            <a:off x="4394200" y="2403244"/>
            <a:ext cx="3403600" cy="1494631"/>
          </a:xfrm>
          <a:prstGeom prst="roundRect">
            <a:avLst>
              <a:gd name="adj" fmla="val 6798"/>
            </a:avLst>
          </a:prstGeom>
          <a:solidFill>
            <a:srgbClr val="153844"/>
          </a:solidFill>
          <a:ln/>
        </p:spPr>
      </p:sp>
      <p:sp>
        <p:nvSpPr>
          <p:cNvPr id="9" name="Text 7"/>
          <p:cNvSpPr/>
          <p:nvPr/>
        </p:nvSpPr>
        <p:spPr>
          <a:xfrm>
            <a:off x="4622800" y="2631844"/>
            <a:ext cx="303479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08A3C"/>
                </a:solidFill>
                <a:latin typeface="IBM Plex Sans" pitchFamily="34" charset="0"/>
                <a:ea typeface="IBM Plex Sans" pitchFamily="34" charset="-122"/>
                <a:cs typeface="IBM Plex Sans" pitchFamily="34" charset="-120"/>
              </a:rPr>
              <a:t>The question</a:t>
            </a:r>
            <a:endParaRPr lang="en-US" sz="1500" dirty="0"/>
          </a:p>
        </p:txBody>
      </p:sp>
      <p:sp>
        <p:nvSpPr>
          <p:cNvPr id="10" name="Text 8"/>
          <p:cNvSpPr/>
          <p:nvPr/>
        </p:nvSpPr>
        <p:spPr>
          <a:xfrm>
            <a:off x="4622800" y="2949344"/>
            <a:ext cx="3034792" cy="745331"/>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F4F1EA"/>
                </a:solidFill>
                <a:latin typeface="IBM Plex Sans" pitchFamily="34" charset="0"/>
                <a:ea typeface="IBM Plex Sans" pitchFamily="34" charset="-122"/>
                <a:cs typeface="IBM Plex Sans" pitchFamily="34" charset="-120"/>
              </a:rPr>
              <a:t>Does adding network structure to failure risk beat risk-only maintenance?</a:t>
            </a:r>
            <a:endParaRPr lang="en-US" sz="1400" dirty="0"/>
          </a:p>
        </p:txBody>
      </p:sp>
      <p:sp>
        <p:nvSpPr>
          <p:cNvPr id="11" name="Shape 9"/>
          <p:cNvSpPr/>
          <p:nvPr/>
        </p:nvSpPr>
        <p:spPr>
          <a:xfrm>
            <a:off x="7975600" y="2403244"/>
            <a:ext cx="3403600" cy="1494631"/>
          </a:xfrm>
          <a:prstGeom prst="roundRect">
            <a:avLst>
              <a:gd name="adj" fmla="val 6798"/>
            </a:avLst>
          </a:prstGeom>
          <a:solidFill>
            <a:srgbClr val="153844"/>
          </a:solidFill>
          <a:ln/>
        </p:spPr>
      </p:sp>
      <p:sp>
        <p:nvSpPr>
          <p:cNvPr id="12" name="Text 10"/>
          <p:cNvSpPr/>
          <p:nvPr/>
        </p:nvSpPr>
        <p:spPr>
          <a:xfrm>
            <a:off x="8204200" y="2631844"/>
            <a:ext cx="303479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08A3C"/>
                </a:solidFill>
                <a:latin typeface="IBM Plex Sans" pitchFamily="34" charset="0"/>
                <a:ea typeface="IBM Plex Sans" pitchFamily="34" charset="-122"/>
                <a:cs typeface="IBM Plex Sans" pitchFamily="34" charset="-120"/>
              </a:rPr>
              <a:t>The scope</a:t>
            </a:r>
            <a:endParaRPr lang="en-US" sz="1500" dirty="0"/>
          </a:p>
        </p:txBody>
      </p:sp>
      <p:sp>
        <p:nvSpPr>
          <p:cNvPr id="13" name="Text 11"/>
          <p:cNvSpPr/>
          <p:nvPr/>
        </p:nvSpPr>
        <p:spPr>
          <a:xfrm>
            <a:off x="8204200" y="2949344"/>
            <a:ext cx="3034792" cy="505354"/>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F4F1EA"/>
                </a:solidFill>
                <a:latin typeface="IBM Plex Sans" pitchFamily="34" charset="0"/>
                <a:ea typeface="IBM Plex Sans" pitchFamily="34" charset="-122"/>
                <a:cs typeface="IBM Plex Sans" pitchFamily="34" charset="-120"/>
              </a:rPr>
              <a:t>Synthetic networks, pipe failures only, a simplified flow model.</a:t>
            </a:r>
            <a:endParaRPr lang="en-US" sz="1400" dirty="0"/>
          </a:p>
        </p:txBody>
      </p:sp>
      <p:sp>
        <p:nvSpPr>
          <p:cNvPr id="14" name="Shape 12"/>
          <p:cNvSpPr/>
          <p:nvPr/>
        </p:nvSpPr>
        <p:spPr>
          <a:xfrm>
            <a:off x="818134" y="4383650"/>
            <a:ext cx="50800" cy="257175"/>
          </a:xfrm>
          <a:prstGeom prst="roundRect">
            <a:avLst>
              <a:gd name="adj" fmla="val 50000"/>
            </a:avLst>
          </a:prstGeom>
          <a:solidFill>
            <a:srgbClr val="F08A3C"/>
          </a:solidFill>
          <a:ln/>
        </p:spPr>
      </p:sp>
      <p:sp>
        <p:nvSpPr>
          <p:cNvPr id="15" name="Text 13"/>
          <p:cNvSpPr/>
          <p:nvPr/>
        </p:nvSpPr>
        <p:spPr>
          <a:xfrm>
            <a:off x="995934" y="4383650"/>
            <a:ext cx="10700258" cy="282575"/>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F4F1EA"/>
                </a:solidFill>
                <a:latin typeface="IBM Plex Sans" pitchFamily="34" charset="0"/>
                <a:ea typeface="IBM Plex Sans" pitchFamily="34" charset="-122"/>
                <a:cs typeface="IBM Plex Sans" pitchFamily="34" charset="-120"/>
              </a:rPr>
              <a:t>Aim: test whether graph theory can choose which pipes to protect when the reinforcement budget is limited.</a:t>
            </a:r>
            <a:endParaRPr lang="en-US" sz="1500" dirty="0"/>
          </a:p>
        </p:txBody>
      </p:sp>
      <p:sp>
        <p:nvSpPr>
          <p:cNvPr id="16" name="Text 14"/>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C8CE"/>
                </a:solidFill>
                <a:latin typeface="IBM Plex Sans" pitchFamily="34" charset="0"/>
                <a:ea typeface="IBM Plex Sans" pitchFamily="34" charset="-122"/>
                <a:cs typeface="IBM Plex Sans" pitchFamily="34" charset="-120"/>
              </a:rPr>
              <a:t>Graph Theory research assignment · 1 / 6</a:t>
            </a:r>
            <a:endParaRPr lang="en-US" sz="12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2A35"/>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08A3C"/>
                </a:solidFill>
                <a:latin typeface="IBM Plex Sans" pitchFamily="34" charset="0"/>
                <a:ea typeface="IBM Plex Sans" pitchFamily="34" charset="-122"/>
                <a:cs typeface="IBM Plex Sans" pitchFamily="34" charset="-120"/>
              </a:rPr>
              <a:t>02 · Literature review</a:t>
            </a:r>
            <a:endParaRPr lang="en-US" sz="1300" dirty="0"/>
          </a:p>
        </p:txBody>
      </p:sp>
      <p:sp>
        <p:nvSpPr>
          <p:cNvPr id="3" name="Text 1"/>
          <p:cNvSpPr>
            <a:spLocks noGrp="1"/>
          </p:cNvSpPr>
          <p:nvPr>
            <p:ph type="title"/>
          </p:nvPr>
        </p:nvSpPr>
        <p:spPr>
          <a:xfrm>
            <a:off x="812800" y="1252583"/>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F4F1EA"/>
                </a:solidFill>
                <a:latin typeface="Fraunces" pitchFamily="18" charset="0"/>
                <a:ea typeface="Fraunces" pitchFamily="18" charset="-122"/>
                <a:cs typeface="Fraunces" pitchFamily="18" charset="-120"/>
              </a:rPr>
              <a:t>What exists, and what is missing</a:t>
            </a:r>
            <a:endParaRPr lang="en-US" sz="3000" dirty="0"/>
          </a:p>
        </p:txBody>
      </p:sp>
      <p:sp>
        <p:nvSpPr>
          <p:cNvPr id="4" name="Shape 2"/>
          <p:cNvSpPr/>
          <p:nvPr/>
        </p:nvSpPr>
        <p:spPr>
          <a:xfrm>
            <a:off x="812800" y="1747883"/>
            <a:ext cx="762000" cy="25400"/>
          </a:xfrm>
          <a:prstGeom prst="rect">
            <a:avLst/>
          </a:prstGeom>
          <a:solidFill>
            <a:srgbClr val="F08A3C"/>
          </a:solidFill>
          <a:ln/>
        </p:spPr>
      </p:sp>
      <p:sp>
        <p:nvSpPr>
          <p:cNvPr id="5" name="Shape 3"/>
          <p:cNvSpPr/>
          <p:nvPr/>
        </p:nvSpPr>
        <p:spPr>
          <a:xfrm>
            <a:off x="812800" y="2166110"/>
            <a:ext cx="3403600" cy="2240095"/>
          </a:xfrm>
          <a:prstGeom prst="roundRect">
            <a:avLst>
              <a:gd name="adj" fmla="val 4536"/>
            </a:avLst>
          </a:prstGeom>
          <a:solidFill>
            <a:srgbClr val="153844"/>
          </a:solidFill>
          <a:ln/>
        </p:spPr>
      </p:sp>
      <p:sp>
        <p:nvSpPr>
          <p:cNvPr id="6" name="Text 4"/>
          <p:cNvSpPr/>
          <p:nvPr/>
        </p:nvSpPr>
        <p:spPr>
          <a:xfrm>
            <a:off x="1041400" y="2394710"/>
            <a:ext cx="303479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4F1EA"/>
                </a:solidFill>
                <a:latin typeface="IBM Plex Sans" pitchFamily="34" charset="0"/>
                <a:ea typeface="IBM Plex Sans" pitchFamily="34" charset="-122"/>
                <a:cs typeface="IBM Plex Sans" pitchFamily="34" charset="-120"/>
              </a:rPr>
              <a:t>Cascade models</a:t>
            </a:r>
            <a:endParaRPr lang="en-US" sz="1500" dirty="0"/>
          </a:p>
        </p:txBody>
      </p:sp>
      <p:sp>
        <p:nvSpPr>
          <p:cNvPr id="7" name="Text 5"/>
          <p:cNvSpPr/>
          <p:nvPr/>
        </p:nvSpPr>
        <p:spPr>
          <a:xfrm>
            <a:off x="1041400" y="2699510"/>
            <a:ext cx="303479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08A3C"/>
                </a:solidFill>
                <a:latin typeface="IBM Plex Sans" pitchFamily="34" charset="0"/>
                <a:ea typeface="IBM Plex Sans" pitchFamily="34" charset="-122"/>
                <a:cs typeface="IBM Plex Sans" pitchFamily="34" charset="-120"/>
              </a:rPr>
              <a:t>Gives</a:t>
            </a:r>
            <a:endParaRPr lang="en-US" sz="1200" dirty="0"/>
          </a:p>
        </p:txBody>
      </p:sp>
      <p:sp>
        <p:nvSpPr>
          <p:cNvPr id="8" name="Text 6"/>
          <p:cNvSpPr/>
          <p:nvPr/>
        </p:nvSpPr>
        <p:spPr>
          <a:xfrm>
            <a:off x="1041400" y="2989030"/>
            <a:ext cx="3034792" cy="436827"/>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F4F1EA"/>
                </a:solidFill>
                <a:latin typeface="IBM Plex Sans" pitchFamily="34" charset="0"/>
                <a:ea typeface="IBM Plex Sans" pitchFamily="34" charset="-122"/>
                <a:cs typeface="IBM Plex Sans" pitchFamily="34" charset="-120"/>
              </a:rPr>
              <a:t>Overload-and-redistribute rule; attack and defence studies.</a:t>
            </a:r>
            <a:endParaRPr lang="en-US" sz="1200" dirty="0"/>
          </a:p>
        </p:txBody>
      </p:sp>
      <p:sp>
        <p:nvSpPr>
          <p:cNvPr id="9" name="Text 7"/>
          <p:cNvSpPr/>
          <p:nvPr/>
        </p:nvSpPr>
        <p:spPr>
          <a:xfrm>
            <a:off x="1041400" y="3476657"/>
            <a:ext cx="303479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08A3C"/>
                </a:solidFill>
                <a:latin typeface="IBM Plex Sans" pitchFamily="34" charset="0"/>
                <a:ea typeface="IBM Plex Sans" pitchFamily="34" charset="-122"/>
                <a:cs typeface="IBM Plex Sans" pitchFamily="34" charset="-120"/>
              </a:rPr>
              <a:t>Misses</a:t>
            </a:r>
            <a:endParaRPr lang="en-US" sz="1200" dirty="0"/>
          </a:p>
        </p:txBody>
      </p:sp>
      <p:sp>
        <p:nvSpPr>
          <p:cNvPr id="10" name="Text 8"/>
          <p:cNvSpPr/>
          <p:nvPr/>
        </p:nvSpPr>
        <p:spPr>
          <a:xfrm>
            <a:off x="1041400" y="3766177"/>
            <a:ext cx="3034792" cy="436827"/>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F4F1EA"/>
                </a:solidFill>
                <a:latin typeface="IBM Plex Sans" pitchFamily="34" charset="0"/>
                <a:ea typeface="IBM Plex Sans" pitchFamily="34" charset="-122"/>
                <a:cs typeface="IBM Plex Sans" pitchFamily="34" charset="-120"/>
              </a:rPr>
              <a:t>Generic networks; no reinforcement budget.</a:t>
            </a:r>
            <a:endParaRPr lang="en-US" sz="1200" dirty="0"/>
          </a:p>
        </p:txBody>
      </p:sp>
      <p:sp>
        <p:nvSpPr>
          <p:cNvPr id="11" name="Shape 9"/>
          <p:cNvSpPr/>
          <p:nvPr/>
        </p:nvSpPr>
        <p:spPr>
          <a:xfrm>
            <a:off x="4394200" y="2166110"/>
            <a:ext cx="3403600" cy="2240095"/>
          </a:xfrm>
          <a:prstGeom prst="roundRect">
            <a:avLst>
              <a:gd name="adj" fmla="val 4536"/>
            </a:avLst>
          </a:prstGeom>
          <a:solidFill>
            <a:srgbClr val="153844"/>
          </a:solidFill>
          <a:ln/>
        </p:spPr>
      </p:sp>
      <p:sp>
        <p:nvSpPr>
          <p:cNvPr id="12" name="Text 10"/>
          <p:cNvSpPr/>
          <p:nvPr/>
        </p:nvSpPr>
        <p:spPr>
          <a:xfrm>
            <a:off x="4622800" y="2394710"/>
            <a:ext cx="303479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4F1EA"/>
                </a:solidFill>
                <a:latin typeface="IBM Plex Sans" pitchFamily="34" charset="0"/>
                <a:ea typeface="IBM Plex Sans" pitchFamily="34" charset="-122"/>
                <a:cs typeface="IBM Plex Sans" pitchFamily="34" charset="-120"/>
              </a:rPr>
              <a:t>Graph theory for water</a:t>
            </a:r>
            <a:endParaRPr lang="en-US" sz="1500" dirty="0"/>
          </a:p>
        </p:txBody>
      </p:sp>
      <p:sp>
        <p:nvSpPr>
          <p:cNvPr id="13" name="Text 11"/>
          <p:cNvSpPr/>
          <p:nvPr/>
        </p:nvSpPr>
        <p:spPr>
          <a:xfrm>
            <a:off x="4622800" y="2699510"/>
            <a:ext cx="303479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08A3C"/>
                </a:solidFill>
                <a:latin typeface="IBM Plex Sans" pitchFamily="34" charset="0"/>
                <a:ea typeface="IBM Plex Sans" pitchFamily="34" charset="-122"/>
                <a:cs typeface="IBM Plex Sans" pitchFamily="34" charset="-120"/>
              </a:rPr>
              <a:t>Gives</a:t>
            </a:r>
            <a:endParaRPr lang="en-US" sz="1200" dirty="0"/>
          </a:p>
        </p:txBody>
      </p:sp>
      <p:sp>
        <p:nvSpPr>
          <p:cNvPr id="14" name="Text 12"/>
          <p:cNvSpPr/>
          <p:nvPr/>
        </p:nvSpPr>
        <p:spPr>
          <a:xfrm>
            <a:off x="4622800" y="2989030"/>
            <a:ext cx="3034792" cy="436827"/>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F4F1EA"/>
                </a:solidFill>
                <a:latin typeface="IBM Plex Sans" pitchFamily="34" charset="0"/>
                <a:ea typeface="IBM Plex Sans" pitchFamily="34" charset="-122"/>
                <a:cs typeface="IBM Plex Sans" pitchFamily="34" charset="-120"/>
              </a:rPr>
              <a:t>Critical pipes found from topology and checked against SWMM.</a:t>
            </a:r>
            <a:endParaRPr lang="en-US" sz="1200" dirty="0"/>
          </a:p>
        </p:txBody>
      </p:sp>
      <p:sp>
        <p:nvSpPr>
          <p:cNvPr id="15" name="Text 13"/>
          <p:cNvSpPr/>
          <p:nvPr/>
        </p:nvSpPr>
        <p:spPr>
          <a:xfrm>
            <a:off x="4622800" y="3476657"/>
            <a:ext cx="303479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08A3C"/>
                </a:solidFill>
                <a:latin typeface="IBM Plex Sans" pitchFamily="34" charset="0"/>
                <a:ea typeface="IBM Plex Sans" pitchFamily="34" charset="-122"/>
                <a:cs typeface="IBM Plex Sans" pitchFamily="34" charset="-120"/>
              </a:rPr>
              <a:t>Misses</a:t>
            </a:r>
            <a:endParaRPr lang="en-US" sz="1200" dirty="0"/>
          </a:p>
        </p:txBody>
      </p:sp>
      <p:sp>
        <p:nvSpPr>
          <p:cNvPr id="16" name="Text 14"/>
          <p:cNvSpPr/>
          <p:nvPr/>
        </p:nvSpPr>
        <p:spPr>
          <a:xfrm>
            <a:off x="4622800" y="3766177"/>
            <a:ext cx="3034792" cy="436827"/>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F4F1EA"/>
                </a:solidFill>
                <a:latin typeface="IBM Plex Sans" pitchFamily="34" charset="0"/>
                <a:ea typeface="IBM Plex Sans" pitchFamily="34" charset="-122"/>
                <a:cs typeface="IBM Plex Sans" pitchFamily="34" charset="-120"/>
              </a:rPr>
              <a:t>Mostly single failures; few intervention tests.</a:t>
            </a:r>
            <a:endParaRPr lang="en-US" sz="1200" dirty="0"/>
          </a:p>
        </p:txBody>
      </p:sp>
      <p:sp>
        <p:nvSpPr>
          <p:cNvPr id="17" name="Shape 15"/>
          <p:cNvSpPr/>
          <p:nvPr/>
        </p:nvSpPr>
        <p:spPr>
          <a:xfrm>
            <a:off x="7975600" y="2166110"/>
            <a:ext cx="3403600" cy="2240095"/>
          </a:xfrm>
          <a:prstGeom prst="roundRect">
            <a:avLst>
              <a:gd name="adj" fmla="val 4536"/>
            </a:avLst>
          </a:prstGeom>
          <a:solidFill>
            <a:srgbClr val="153844"/>
          </a:solidFill>
          <a:ln/>
        </p:spPr>
      </p:sp>
      <p:sp>
        <p:nvSpPr>
          <p:cNvPr id="18" name="Text 16"/>
          <p:cNvSpPr/>
          <p:nvPr/>
        </p:nvSpPr>
        <p:spPr>
          <a:xfrm>
            <a:off x="8204200" y="2394710"/>
            <a:ext cx="303479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4F1EA"/>
                </a:solidFill>
                <a:latin typeface="IBM Plex Sans" pitchFamily="34" charset="0"/>
                <a:ea typeface="IBM Plex Sans" pitchFamily="34" charset="-122"/>
                <a:cs typeface="IBM Plex Sans" pitchFamily="34" charset="-120"/>
              </a:rPr>
              <a:t>Risk-based maintenance</a:t>
            </a:r>
            <a:endParaRPr lang="en-US" sz="1500" dirty="0"/>
          </a:p>
        </p:txBody>
      </p:sp>
      <p:sp>
        <p:nvSpPr>
          <p:cNvPr id="19" name="Text 17"/>
          <p:cNvSpPr/>
          <p:nvPr/>
        </p:nvSpPr>
        <p:spPr>
          <a:xfrm>
            <a:off x="8204200" y="2699510"/>
            <a:ext cx="303479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08A3C"/>
                </a:solidFill>
                <a:latin typeface="IBM Plex Sans" pitchFamily="34" charset="0"/>
                <a:ea typeface="IBM Plex Sans" pitchFamily="34" charset="-122"/>
                <a:cs typeface="IBM Plex Sans" pitchFamily="34" charset="-120"/>
              </a:rPr>
              <a:t>Gives</a:t>
            </a:r>
            <a:endParaRPr lang="en-US" sz="1200" dirty="0"/>
          </a:p>
        </p:txBody>
      </p:sp>
      <p:sp>
        <p:nvSpPr>
          <p:cNvPr id="20" name="Text 18"/>
          <p:cNvSpPr/>
          <p:nvPr/>
        </p:nvSpPr>
        <p:spPr>
          <a:xfrm>
            <a:off x="8204200" y="2989030"/>
            <a:ext cx="3034792" cy="436827"/>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F4F1EA"/>
                </a:solidFill>
                <a:latin typeface="IBM Plex Sans" pitchFamily="34" charset="0"/>
                <a:ea typeface="IBM Plex Sans" pitchFamily="34" charset="-122"/>
                <a:cs typeface="IBM Plex Sans" pitchFamily="34" charset="-120"/>
              </a:rPr>
              <a:t>Pipes ranked by risk and cost under a budget.</a:t>
            </a:r>
            <a:endParaRPr lang="en-US" sz="1200" dirty="0"/>
          </a:p>
        </p:txBody>
      </p:sp>
      <p:sp>
        <p:nvSpPr>
          <p:cNvPr id="21" name="Text 19"/>
          <p:cNvSpPr/>
          <p:nvPr/>
        </p:nvSpPr>
        <p:spPr>
          <a:xfrm>
            <a:off x="8204200" y="3476657"/>
            <a:ext cx="303479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08A3C"/>
                </a:solidFill>
                <a:latin typeface="IBM Plex Sans" pitchFamily="34" charset="0"/>
                <a:ea typeface="IBM Plex Sans" pitchFamily="34" charset="-122"/>
                <a:cs typeface="IBM Plex Sans" pitchFamily="34" charset="-120"/>
              </a:rPr>
              <a:t>Misses</a:t>
            </a:r>
            <a:endParaRPr lang="en-US" sz="1200" dirty="0"/>
          </a:p>
        </p:txBody>
      </p:sp>
      <p:sp>
        <p:nvSpPr>
          <p:cNvPr id="22" name="Text 20"/>
          <p:cNvSpPr/>
          <p:nvPr/>
        </p:nvSpPr>
        <p:spPr>
          <a:xfrm>
            <a:off x="8204200" y="3766177"/>
            <a:ext cx="3034792"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F4F1EA"/>
                </a:solidFill>
                <a:latin typeface="IBM Plex Sans" pitchFamily="34" charset="0"/>
                <a:ea typeface="IBM Plex Sans" pitchFamily="34" charset="-122"/>
                <a:cs typeface="IBM Plex Sans" pitchFamily="34" charset="-120"/>
              </a:rPr>
              <a:t>Network structure is not used.</a:t>
            </a:r>
            <a:endParaRPr lang="en-US" sz="1200" dirty="0"/>
          </a:p>
        </p:txBody>
      </p:sp>
      <p:sp>
        <p:nvSpPr>
          <p:cNvPr id="23" name="Shape 21"/>
          <p:cNvSpPr/>
          <p:nvPr/>
        </p:nvSpPr>
        <p:spPr>
          <a:xfrm>
            <a:off x="818134" y="5007702"/>
            <a:ext cx="50800" cy="514350"/>
          </a:xfrm>
          <a:prstGeom prst="roundRect">
            <a:avLst>
              <a:gd name="adj" fmla="val 50000"/>
            </a:avLst>
          </a:prstGeom>
          <a:solidFill>
            <a:srgbClr val="F08A3C"/>
          </a:solidFill>
          <a:ln/>
        </p:spPr>
      </p:sp>
      <p:sp>
        <p:nvSpPr>
          <p:cNvPr id="24" name="Text 22"/>
          <p:cNvSpPr/>
          <p:nvPr/>
        </p:nvSpPr>
        <p:spPr>
          <a:xfrm>
            <a:off x="995934" y="5007702"/>
            <a:ext cx="10700258"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F4F1EA"/>
                </a:solidFill>
                <a:latin typeface="IBM Plex Sans" pitchFamily="34" charset="0"/>
                <a:ea typeface="IBM Plex Sans" pitchFamily="34" charset="-122"/>
                <a:cs typeface="IBM Plex Sans" pitchFamily="34" charset="-120"/>
              </a:rPr>
              <a:t>Gap: none of the reviewed studies compares risk-only with risk plus structure under equal budgets. This is not proof that none exists.</a:t>
            </a:r>
            <a:endParaRPr lang="en-US" sz="1500" dirty="0"/>
          </a:p>
        </p:txBody>
      </p:sp>
      <p:sp>
        <p:nvSpPr>
          <p:cNvPr id="25" name="Text 23"/>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C8CE"/>
                </a:solidFill>
                <a:latin typeface="IBM Plex Sans" pitchFamily="34" charset="0"/>
                <a:ea typeface="IBM Plex Sans" pitchFamily="34" charset="-122"/>
                <a:cs typeface="IBM Plex Sans" pitchFamily="34" charset="-120"/>
              </a:rPr>
              <a:t>Graph Theory research assignment · 2 / 6</a:t>
            </a:r>
            <a:endParaRPr lang="en-US" sz="12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2A35"/>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08A3C"/>
                </a:solidFill>
                <a:latin typeface="IBM Plex Sans" pitchFamily="34" charset="0"/>
                <a:ea typeface="IBM Plex Sans" pitchFamily="34" charset="-122"/>
                <a:cs typeface="IBM Plex Sans" pitchFamily="34" charset="-120"/>
              </a:rPr>
              <a:t>03 · Methodology</a:t>
            </a:r>
            <a:endParaRPr lang="en-US" sz="1300" dirty="0"/>
          </a:p>
        </p:txBody>
      </p:sp>
      <p:sp>
        <p:nvSpPr>
          <p:cNvPr id="3" name="Text 1"/>
          <p:cNvSpPr>
            <a:spLocks noGrp="1"/>
          </p:cNvSpPr>
          <p:nvPr>
            <p:ph type="title"/>
          </p:nvPr>
        </p:nvSpPr>
        <p:spPr>
          <a:xfrm>
            <a:off x="812800" y="1379234"/>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F4F1EA"/>
                </a:solidFill>
                <a:latin typeface="Fraunces" pitchFamily="18" charset="0"/>
                <a:ea typeface="Fraunces" pitchFamily="18" charset="-122"/>
                <a:cs typeface="Fraunces" pitchFamily="18" charset="-120"/>
              </a:rPr>
              <a:t>Simulate cascades, test five strategies</a:t>
            </a:r>
            <a:endParaRPr lang="en-US" sz="3000" dirty="0"/>
          </a:p>
        </p:txBody>
      </p:sp>
      <p:sp>
        <p:nvSpPr>
          <p:cNvPr id="4" name="Shape 2"/>
          <p:cNvSpPr/>
          <p:nvPr/>
        </p:nvSpPr>
        <p:spPr>
          <a:xfrm>
            <a:off x="812800" y="1874534"/>
            <a:ext cx="762000" cy="25400"/>
          </a:xfrm>
          <a:prstGeom prst="rect">
            <a:avLst/>
          </a:prstGeom>
          <a:solidFill>
            <a:srgbClr val="F08A3C"/>
          </a:solidFill>
          <a:ln/>
        </p:spPr>
      </p:sp>
      <p:sp>
        <p:nvSpPr>
          <p:cNvPr id="5" name="Shape 3"/>
          <p:cNvSpPr/>
          <p:nvPr/>
        </p:nvSpPr>
        <p:spPr>
          <a:xfrm>
            <a:off x="812800" y="2276410"/>
            <a:ext cx="2508250" cy="1666081"/>
          </a:xfrm>
          <a:prstGeom prst="roundRect">
            <a:avLst>
              <a:gd name="adj" fmla="val 6098"/>
            </a:avLst>
          </a:prstGeom>
          <a:solidFill>
            <a:srgbClr val="153844"/>
          </a:solidFill>
          <a:ln/>
        </p:spPr>
      </p:sp>
      <p:sp>
        <p:nvSpPr>
          <p:cNvPr id="6" name="Text 4"/>
          <p:cNvSpPr/>
          <p:nvPr/>
        </p:nvSpPr>
        <p:spPr>
          <a:xfrm>
            <a:off x="1041400" y="2505010"/>
            <a:ext cx="211258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08A3C"/>
                </a:solidFill>
                <a:latin typeface="IBM Plex Sans" pitchFamily="34" charset="0"/>
                <a:ea typeface="IBM Plex Sans" pitchFamily="34" charset="-122"/>
                <a:cs typeface="IBM Plex Sans" pitchFamily="34" charset="-120"/>
              </a:rPr>
              <a:t>1 Network</a:t>
            </a:r>
            <a:endParaRPr lang="en-US" sz="1500" dirty="0"/>
          </a:p>
        </p:txBody>
      </p:sp>
      <p:sp>
        <p:nvSpPr>
          <p:cNvPr id="7" name="Text 5"/>
          <p:cNvSpPr/>
          <p:nvPr/>
        </p:nvSpPr>
        <p:spPr>
          <a:xfrm>
            <a:off x="1041400" y="2822510"/>
            <a:ext cx="2112582" cy="693936"/>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F4F1EA"/>
                </a:solidFill>
                <a:latin typeface="IBM Plex Sans" pitchFamily="34" charset="0"/>
                <a:ea typeface="IBM Plex Sans" pitchFamily="34" charset="-122"/>
                <a:cs typeface="IBM Plex Sans" pitchFamily="34" charset="-120"/>
              </a:rPr>
              <a:t>56-node gravity-fed graph, 86 to 88 pipes, 3 outlets; five random networks.</a:t>
            </a:r>
            <a:endParaRPr lang="en-US" sz="1300" dirty="0"/>
          </a:p>
        </p:txBody>
      </p:sp>
      <p:sp>
        <p:nvSpPr>
          <p:cNvPr id="8" name="Shape 6"/>
          <p:cNvSpPr/>
          <p:nvPr/>
        </p:nvSpPr>
        <p:spPr>
          <a:xfrm>
            <a:off x="3498850" y="2276410"/>
            <a:ext cx="2508250" cy="1666081"/>
          </a:xfrm>
          <a:prstGeom prst="roundRect">
            <a:avLst>
              <a:gd name="adj" fmla="val 6098"/>
            </a:avLst>
          </a:prstGeom>
          <a:solidFill>
            <a:srgbClr val="153844"/>
          </a:solidFill>
          <a:ln/>
        </p:spPr>
      </p:sp>
      <p:sp>
        <p:nvSpPr>
          <p:cNvPr id="9" name="Text 7"/>
          <p:cNvSpPr/>
          <p:nvPr/>
        </p:nvSpPr>
        <p:spPr>
          <a:xfrm>
            <a:off x="3727450" y="2505010"/>
            <a:ext cx="211258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08A3C"/>
                </a:solidFill>
                <a:latin typeface="IBM Plex Sans" pitchFamily="34" charset="0"/>
                <a:ea typeface="IBM Plex Sans" pitchFamily="34" charset="-122"/>
                <a:cs typeface="IBM Plex Sans" pitchFamily="34" charset="-120"/>
              </a:rPr>
              <a:t>2 Cascade</a:t>
            </a:r>
            <a:endParaRPr lang="en-US" sz="1500" dirty="0"/>
          </a:p>
        </p:txBody>
      </p:sp>
      <p:sp>
        <p:nvSpPr>
          <p:cNvPr id="10" name="Text 8"/>
          <p:cNvSpPr/>
          <p:nvPr/>
        </p:nvSpPr>
        <p:spPr>
          <a:xfrm>
            <a:off x="3727450" y="2822510"/>
            <a:ext cx="2112582" cy="91678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F4F1EA"/>
                </a:solidFill>
                <a:latin typeface="IBM Plex Sans" pitchFamily="34" charset="0"/>
                <a:ea typeface="IBM Plex Sans" pitchFamily="34" charset="-122"/>
                <a:cs typeface="IBM Plex Sans" pitchFamily="34" charset="-120"/>
              </a:rPr>
              <a:t>A pipe fails when load exceeds capacity; water reroutes by surviving pipe size.</a:t>
            </a:r>
            <a:endParaRPr lang="en-US" sz="1300" dirty="0"/>
          </a:p>
        </p:txBody>
      </p:sp>
      <p:sp>
        <p:nvSpPr>
          <p:cNvPr id="11" name="Shape 9"/>
          <p:cNvSpPr/>
          <p:nvPr/>
        </p:nvSpPr>
        <p:spPr>
          <a:xfrm>
            <a:off x="6184900" y="2276410"/>
            <a:ext cx="2508250" cy="1666081"/>
          </a:xfrm>
          <a:prstGeom prst="roundRect">
            <a:avLst>
              <a:gd name="adj" fmla="val 6098"/>
            </a:avLst>
          </a:prstGeom>
          <a:solidFill>
            <a:srgbClr val="153844"/>
          </a:solidFill>
          <a:ln/>
        </p:spPr>
      </p:sp>
      <p:sp>
        <p:nvSpPr>
          <p:cNvPr id="12" name="Text 10"/>
          <p:cNvSpPr/>
          <p:nvPr/>
        </p:nvSpPr>
        <p:spPr>
          <a:xfrm>
            <a:off x="6413500" y="2505010"/>
            <a:ext cx="211258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08A3C"/>
                </a:solidFill>
                <a:latin typeface="IBM Plex Sans" pitchFamily="34" charset="0"/>
                <a:ea typeface="IBM Plex Sans" pitchFamily="34" charset="-122"/>
                <a:cs typeface="IBM Plex Sans" pitchFamily="34" charset="-120"/>
              </a:rPr>
              <a:t>3 Strategies</a:t>
            </a:r>
            <a:endParaRPr lang="en-US" sz="1500" dirty="0"/>
          </a:p>
        </p:txBody>
      </p:sp>
      <p:sp>
        <p:nvSpPr>
          <p:cNvPr id="13" name="Text 11"/>
          <p:cNvSpPr/>
          <p:nvPr/>
        </p:nvSpPr>
        <p:spPr>
          <a:xfrm>
            <a:off x="6413500" y="2822510"/>
            <a:ext cx="2112582" cy="693936"/>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F4F1EA"/>
                </a:solidFill>
                <a:latin typeface="IBM Plex Sans" pitchFamily="34" charset="0"/>
                <a:ea typeface="IBM Plex Sans" pitchFamily="34" charset="-122"/>
                <a:cs typeface="IBM Plex Sans" pitchFamily="34" charset="-120"/>
              </a:rPr>
              <a:t>Same budget: A risk, B risk plus betweenness, C random, D none, E load.</a:t>
            </a:r>
            <a:endParaRPr lang="en-US" sz="1300" dirty="0"/>
          </a:p>
        </p:txBody>
      </p:sp>
      <p:sp>
        <p:nvSpPr>
          <p:cNvPr id="14" name="Shape 12"/>
          <p:cNvSpPr/>
          <p:nvPr/>
        </p:nvSpPr>
        <p:spPr>
          <a:xfrm>
            <a:off x="8870950" y="2276410"/>
            <a:ext cx="2508250" cy="1666081"/>
          </a:xfrm>
          <a:prstGeom prst="roundRect">
            <a:avLst>
              <a:gd name="adj" fmla="val 6098"/>
            </a:avLst>
          </a:prstGeom>
          <a:solidFill>
            <a:srgbClr val="153844"/>
          </a:solidFill>
          <a:ln/>
        </p:spPr>
      </p:sp>
      <p:sp>
        <p:nvSpPr>
          <p:cNvPr id="15" name="Text 13"/>
          <p:cNvSpPr/>
          <p:nvPr/>
        </p:nvSpPr>
        <p:spPr>
          <a:xfrm>
            <a:off x="9099550" y="2505010"/>
            <a:ext cx="211258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08A3C"/>
                </a:solidFill>
                <a:latin typeface="IBM Plex Sans" pitchFamily="34" charset="0"/>
                <a:ea typeface="IBM Plex Sans" pitchFamily="34" charset="-122"/>
                <a:cs typeface="IBM Plex Sans" pitchFamily="34" charset="-120"/>
              </a:rPr>
              <a:t>4 Evidence</a:t>
            </a:r>
            <a:endParaRPr lang="en-US" sz="1500" dirty="0"/>
          </a:p>
        </p:txBody>
      </p:sp>
      <p:sp>
        <p:nvSpPr>
          <p:cNvPr id="16" name="Text 14"/>
          <p:cNvSpPr/>
          <p:nvPr/>
        </p:nvSpPr>
        <p:spPr>
          <a:xfrm>
            <a:off x="9099550" y="2822510"/>
            <a:ext cx="2112582" cy="693936"/>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F4F1EA"/>
                </a:solidFill>
                <a:latin typeface="IBM Plex Sans" pitchFamily="34" charset="0"/>
                <a:ea typeface="IBM Plex Sans" pitchFamily="34" charset="-122"/>
                <a:cs typeface="IBM Plex Sans" pitchFamily="34" charset="-120"/>
              </a:rPr>
              <a:t>100 test trials per cell, shared random failures, Wilcoxon with Holm.</a:t>
            </a:r>
            <a:endParaRPr lang="en-US" sz="1300" dirty="0"/>
          </a:p>
        </p:txBody>
      </p:sp>
      <p:sp>
        <p:nvSpPr>
          <p:cNvPr id="17" name="Shape 15"/>
          <p:cNvSpPr/>
          <p:nvPr/>
        </p:nvSpPr>
        <p:spPr>
          <a:xfrm>
            <a:off x="812800" y="4760079"/>
            <a:ext cx="50800" cy="257175"/>
          </a:xfrm>
          <a:prstGeom prst="roundRect">
            <a:avLst>
              <a:gd name="adj" fmla="val 50000"/>
            </a:avLst>
          </a:prstGeom>
          <a:solidFill>
            <a:srgbClr val="F08A3C"/>
          </a:solidFill>
          <a:ln/>
        </p:spPr>
      </p:sp>
      <p:sp>
        <p:nvSpPr>
          <p:cNvPr id="18" name="Text 16"/>
          <p:cNvSpPr/>
          <p:nvPr/>
        </p:nvSpPr>
        <p:spPr>
          <a:xfrm>
            <a:off x="990600" y="4760079"/>
            <a:ext cx="10700258" cy="282575"/>
          </a:xfrm>
          <a:prstGeom prst="rect">
            <a:avLst/>
          </a:prstGeom>
          <a:noFill/>
          <a:ln/>
        </p:spPr>
        <p:txBody>
          <a:bodyPr wrap="square" lIns="0" tIns="0" rIns="0" bIns="0" rtlCol="0" anchor="t">
            <a:normAutofit/>
          </a:bodyPr>
          <a:lstStyle/>
          <a:p>
            <a:pPr marL="0" indent="0" algn="l">
              <a:lnSpc>
                <a:spcPts val="2025"/>
              </a:lnSpc>
              <a:buNone/>
            </a:pPr>
            <a:r>
              <a:rPr lang="en-US" sz="1500" i="1" dirty="0">
                <a:solidFill>
                  <a:srgbClr val="F4F1EA"/>
                </a:solidFill>
                <a:latin typeface="IBM Plex Sans" pitchFamily="34" charset="0"/>
                <a:ea typeface="IBM Plex Sans" pitchFamily="34" charset="-122"/>
                <a:cs typeface="IBM Plex Sans" pitchFamily="34" charset="-120"/>
              </a:rPr>
              <a:t>Se = λ r̂e + (1 − λ) b̂e</a:t>
            </a:r>
            <a:r>
              <a:rPr lang="en-US" sz="1500" dirty="0">
                <a:solidFill>
                  <a:srgbClr val="F4F1EA"/>
                </a:solidFill>
                <a:latin typeface="IBM Plex Sans" pitchFamily="34" charset="0"/>
                <a:ea typeface="IBM Plex Sans" pitchFamily="34" charset="-122"/>
                <a:cs typeface="IBM Plex Sans" pitchFamily="34" charset="-120"/>
              </a:rPr>
              <a:t> with λ* = 0.75 (tuning data); 4 rainfall levels × 3 budgets (5, 10, 20% of pipes).</a:t>
            </a:r>
            <a:endParaRPr lang="en-US" sz="1500" dirty="0"/>
          </a:p>
        </p:txBody>
      </p:sp>
      <p:sp>
        <p:nvSpPr>
          <p:cNvPr id="19" name="Text 17"/>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C8CE"/>
                </a:solidFill>
                <a:latin typeface="IBM Plex Sans" pitchFamily="34" charset="0"/>
                <a:ea typeface="IBM Plex Sans" pitchFamily="34" charset="-122"/>
                <a:cs typeface="IBM Plex Sans" pitchFamily="34" charset="-120"/>
              </a:rPr>
              <a:t>Graph Theory research assignment · 3 / 6</a:t>
            </a:r>
            <a:endParaRPr lang="en-US" sz="12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2A35"/>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08A3C"/>
                </a:solidFill>
                <a:latin typeface="IBM Plex Sans" pitchFamily="34" charset="0"/>
                <a:ea typeface="IBM Plex Sans" pitchFamily="34" charset="-122"/>
                <a:cs typeface="IBM Plex Sans" pitchFamily="34" charset="-120"/>
              </a:rPr>
              <a:t>04 · Results</a:t>
            </a:r>
            <a:endParaRPr lang="en-US" sz="1300" dirty="0"/>
          </a:p>
        </p:txBody>
      </p:sp>
      <p:sp>
        <p:nvSpPr>
          <p:cNvPr id="3" name="Text 1"/>
          <p:cNvSpPr>
            <a:spLocks noGrp="1"/>
          </p:cNvSpPr>
          <p:nvPr>
            <p:ph type="title"/>
          </p:nvPr>
        </p:nvSpPr>
        <p:spPr>
          <a:xfrm>
            <a:off x="784241" y="1276163"/>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F4F1EA"/>
                </a:solidFill>
                <a:latin typeface="Fraunces" pitchFamily="18" charset="0"/>
                <a:ea typeface="Fraunces" pitchFamily="18" charset="-122"/>
                <a:cs typeface="Fraunces" pitchFamily="18" charset="-120"/>
              </a:rPr>
              <a:t>Fewer cut-off areas, not fewer failed pipes</a:t>
            </a:r>
            <a:endParaRPr lang="en-US" sz="3000" dirty="0"/>
          </a:p>
        </p:txBody>
      </p:sp>
      <p:sp>
        <p:nvSpPr>
          <p:cNvPr id="4" name="Shape 2"/>
          <p:cNvSpPr/>
          <p:nvPr/>
        </p:nvSpPr>
        <p:spPr>
          <a:xfrm>
            <a:off x="784241" y="1771463"/>
            <a:ext cx="762000" cy="25400"/>
          </a:xfrm>
          <a:prstGeom prst="rect">
            <a:avLst/>
          </a:prstGeom>
          <a:solidFill>
            <a:srgbClr val="F08A3C"/>
          </a:solidFill>
          <a:ln/>
        </p:spPr>
      </p:sp>
      <p:sp>
        <p:nvSpPr>
          <p:cNvPr id="5" name="Shape 3"/>
          <p:cNvSpPr/>
          <p:nvPr/>
        </p:nvSpPr>
        <p:spPr>
          <a:xfrm>
            <a:off x="784241" y="2114330"/>
            <a:ext cx="5194300" cy="2873772"/>
          </a:xfrm>
          <a:prstGeom prst="roundRect">
            <a:avLst>
              <a:gd name="adj" fmla="val 3535"/>
            </a:avLst>
          </a:prstGeom>
          <a:solidFill>
            <a:srgbClr val="153844"/>
          </a:solidFill>
          <a:ln/>
        </p:spPr>
      </p:sp>
      <p:sp>
        <p:nvSpPr>
          <p:cNvPr id="6" name="Text 4"/>
          <p:cNvSpPr/>
          <p:nvPr/>
        </p:nvSpPr>
        <p:spPr>
          <a:xfrm>
            <a:off x="1012841" y="2342930"/>
            <a:ext cx="4879213"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08A3C"/>
                </a:solidFill>
                <a:latin typeface="IBM Plex Sans" pitchFamily="34" charset="0"/>
                <a:ea typeface="IBM Plex Sans" pitchFamily="34" charset="-122"/>
                <a:cs typeface="IBM Plex Sans" pitchFamily="34" charset="-120"/>
              </a:rPr>
              <a:t>Failed pipes</a:t>
            </a:r>
            <a:endParaRPr lang="en-US" sz="1500" dirty="0"/>
          </a:p>
        </p:txBody>
      </p:sp>
      <p:sp>
        <p:nvSpPr>
          <p:cNvPr id="7" name="Text 5"/>
          <p:cNvSpPr/>
          <p:nvPr/>
        </p:nvSpPr>
        <p:spPr>
          <a:xfrm>
            <a:off x="1012841" y="2660430"/>
            <a:ext cx="4879213" cy="612114"/>
          </a:xfrm>
          <a:prstGeom prst="rect">
            <a:avLst/>
          </a:prstGeom>
          <a:noFill/>
          <a:ln/>
        </p:spPr>
        <p:txBody>
          <a:bodyPr wrap="square" lIns="0" tIns="0" rIns="0" bIns="0" rtlCol="0" anchor="t">
            <a:normAutofit/>
          </a:bodyPr>
          <a:lstStyle/>
          <a:p>
            <a:pPr marL="0" indent="0" algn="l">
              <a:lnSpc>
                <a:spcPts val="4620"/>
              </a:lnSpc>
              <a:buNone/>
            </a:pPr>
            <a:r>
              <a:rPr lang="en-US" sz="4400" b="1" dirty="0">
                <a:solidFill>
                  <a:srgbClr val="F4F1EA"/>
                </a:solidFill>
                <a:latin typeface="Fraunces" pitchFamily="18" charset="0"/>
                <a:ea typeface="Fraunces" pitchFamily="18" charset="-122"/>
                <a:cs typeface="Fraunces" pitchFamily="18" charset="-120"/>
              </a:rPr>
              <a:t>0 of 12</a:t>
            </a:r>
            <a:endParaRPr lang="en-US" sz="4400" dirty="0"/>
          </a:p>
        </p:txBody>
      </p:sp>
      <p:sp>
        <p:nvSpPr>
          <p:cNvPr id="8" name="Text 6"/>
          <p:cNvSpPr/>
          <p:nvPr/>
        </p:nvSpPr>
        <p:spPr>
          <a:xfrm>
            <a:off x="1012841" y="3336043"/>
            <a:ext cx="4879213" cy="239977"/>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B9C8CE"/>
                </a:solidFill>
                <a:latin typeface="IBM Plex Sans" pitchFamily="34" charset="0"/>
                <a:ea typeface="IBM Plex Sans" pitchFamily="34" charset="-122"/>
                <a:cs typeface="IBM Plex Sans" pitchFamily="34" charset="-120"/>
              </a:rPr>
              <a:t>cells with a significant gain over risk-only (−0.5% to +2.9%)</a:t>
            </a:r>
            <a:endParaRPr lang="en-US" sz="1300" dirty="0"/>
          </a:p>
        </p:txBody>
      </p:sp>
      <p:sp>
        <p:nvSpPr>
          <p:cNvPr id="9" name="Text 7"/>
          <p:cNvSpPr/>
          <p:nvPr/>
        </p:nvSpPr>
        <p:spPr>
          <a:xfrm>
            <a:off x="1012841" y="3639520"/>
            <a:ext cx="304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C8CE"/>
                </a:solidFill>
                <a:latin typeface="IBM Plex Sans" pitchFamily="34" charset="0"/>
                <a:ea typeface="IBM Plex Sans" pitchFamily="34" charset="-122"/>
                <a:cs typeface="IBM Plex Sans" pitchFamily="34" charset="-120"/>
              </a:rPr>
              <a:t>D</a:t>
            </a:r>
            <a:endParaRPr lang="en-US" sz="1200" dirty="0"/>
          </a:p>
        </p:txBody>
      </p:sp>
      <p:sp>
        <p:nvSpPr>
          <p:cNvPr id="10" name="Shape 8"/>
          <p:cNvSpPr/>
          <p:nvPr/>
        </p:nvSpPr>
        <p:spPr>
          <a:xfrm>
            <a:off x="1368441" y="3657246"/>
            <a:ext cx="2806700" cy="177800"/>
          </a:xfrm>
          <a:prstGeom prst="roundRect">
            <a:avLst>
              <a:gd name="adj" fmla="val 21429"/>
            </a:avLst>
          </a:prstGeom>
          <a:solidFill>
            <a:srgbClr val="8A9AA3"/>
          </a:solidFill>
          <a:ln/>
        </p:spPr>
      </p:sp>
      <p:sp>
        <p:nvSpPr>
          <p:cNvPr id="11" name="Text 9"/>
          <p:cNvSpPr/>
          <p:nvPr/>
        </p:nvSpPr>
        <p:spPr>
          <a:xfrm>
            <a:off x="4276741" y="3639520"/>
            <a:ext cx="493633"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4F1EA"/>
                </a:solidFill>
                <a:latin typeface="IBM Plex Sans" pitchFamily="34" charset="0"/>
                <a:ea typeface="IBM Plex Sans" pitchFamily="34" charset="-122"/>
                <a:cs typeface="IBM Plex Sans" pitchFamily="34" charset="-120"/>
              </a:rPr>
              <a:t>0.177</a:t>
            </a:r>
            <a:endParaRPr lang="en-US" sz="1200" dirty="0"/>
          </a:p>
        </p:txBody>
      </p:sp>
      <p:sp>
        <p:nvSpPr>
          <p:cNvPr id="12" name="Text 10"/>
          <p:cNvSpPr/>
          <p:nvPr/>
        </p:nvSpPr>
        <p:spPr>
          <a:xfrm>
            <a:off x="1012841" y="3941741"/>
            <a:ext cx="304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C8CE"/>
                </a:solidFill>
                <a:latin typeface="IBM Plex Sans" pitchFamily="34" charset="0"/>
                <a:ea typeface="IBM Plex Sans" pitchFamily="34" charset="-122"/>
                <a:cs typeface="IBM Plex Sans" pitchFamily="34" charset="-120"/>
              </a:rPr>
              <a:t>A</a:t>
            </a:r>
            <a:endParaRPr lang="en-US" sz="1200" dirty="0"/>
          </a:p>
        </p:txBody>
      </p:sp>
      <p:sp>
        <p:nvSpPr>
          <p:cNvPr id="13" name="Shape 11"/>
          <p:cNvSpPr/>
          <p:nvPr/>
        </p:nvSpPr>
        <p:spPr>
          <a:xfrm>
            <a:off x="1368441" y="3959467"/>
            <a:ext cx="2400300" cy="177800"/>
          </a:xfrm>
          <a:prstGeom prst="roundRect">
            <a:avLst>
              <a:gd name="adj" fmla="val 21429"/>
            </a:avLst>
          </a:prstGeom>
          <a:solidFill>
            <a:srgbClr val="56B4E9"/>
          </a:solidFill>
          <a:ln/>
        </p:spPr>
      </p:sp>
      <p:sp>
        <p:nvSpPr>
          <p:cNvPr id="14" name="Text 12"/>
          <p:cNvSpPr/>
          <p:nvPr/>
        </p:nvSpPr>
        <p:spPr>
          <a:xfrm>
            <a:off x="3870341" y="3941741"/>
            <a:ext cx="493633"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4F1EA"/>
                </a:solidFill>
                <a:latin typeface="IBM Plex Sans" pitchFamily="34" charset="0"/>
                <a:ea typeface="IBM Plex Sans" pitchFamily="34" charset="-122"/>
                <a:cs typeface="IBM Plex Sans" pitchFamily="34" charset="-120"/>
              </a:rPr>
              <a:t>0.151</a:t>
            </a:r>
            <a:endParaRPr lang="en-US" sz="1200" dirty="0"/>
          </a:p>
        </p:txBody>
      </p:sp>
      <p:sp>
        <p:nvSpPr>
          <p:cNvPr id="15" name="Text 13"/>
          <p:cNvSpPr/>
          <p:nvPr/>
        </p:nvSpPr>
        <p:spPr>
          <a:xfrm>
            <a:off x="1012841" y="4243961"/>
            <a:ext cx="304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C8CE"/>
                </a:solidFill>
                <a:latin typeface="IBM Plex Sans" pitchFamily="34" charset="0"/>
                <a:ea typeface="IBM Plex Sans" pitchFamily="34" charset="-122"/>
                <a:cs typeface="IBM Plex Sans" pitchFamily="34" charset="-120"/>
              </a:rPr>
              <a:t>B</a:t>
            </a:r>
            <a:endParaRPr lang="en-US" sz="1200" dirty="0"/>
          </a:p>
        </p:txBody>
      </p:sp>
      <p:sp>
        <p:nvSpPr>
          <p:cNvPr id="16" name="Shape 14"/>
          <p:cNvSpPr/>
          <p:nvPr/>
        </p:nvSpPr>
        <p:spPr>
          <a:xfrm>
            <a:off x="1368441" y="4261687"/>
            <a:ext cx="2349500" cy="177800"/>
          </a:xfrm>
          <a:prstGeom prst="roundRect">
            <a:avLst>
              <a:gd name="adj" fmla="val 21429"/>
            </a:avLst>
          </a:prstGeom>
          <a:solidFill>
            <a:srgbClr val="F08A3C"/>
          </a:solidFill>
          <a:ln/>
        </p:spPr>
      </p:sp>
      <p:sp>
        <p:nvSpPr>
          <p:cNvPr id="17" name="Text 15"/>
          <p:cNvSpPr/>
          <p:nvPr/>
        </p:nvSpPr>
        <p:spPr>
          <a:xfrm>
            <a:off x="3819541" y="4243961"/>
            <a:ext cx="493633"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4F1EA"/>
                </a:solidFill>
                <a:latin typeface="IBM Plex Sans" pitchFamily="34" charset="0"/>
                <a:ea typeface="IBM Plex Sans" pitchFamily="34" charset="-122"/>
                <a:cs typeface="IBM Plex Sans" pitchFamily="34" charset="-120"/>
              </a:rPr>
              <a:t>0.148</a:t>
            </a:r>
            <a:endParaRPr lang="en-US" sz="1200" dirty="0"/>
          </a:p>
        </p:txBody>
      </p:sp>
      <p:sp>
        <p:nvSpPr>
          <p:cNvPr id="18" name="Text 16"/>
          <p:cNvSpPr/>
          <p:nvPr/>
        </p:nvSpPr>
        <p:spPr>
          <a:xfrm>
            <a:off x="1012841" y="4546181"/>
            <a:ext cx="487921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C8CE"/>
                </a:solidFill>
                <a:latin typeface="IBM Plex Sans" pitchFamily="34" charset="0"/>
                <a:ea typeface="IBM Plex Sans" pitchFamily="34" charset="-122"/>
                <a:cs typeface="IBM Plex Sans" pitchFamily="34" charset="-120"/>
              </a:rPr>
              <a:t>Mean failure rate, θ = 1.3, 10% budget</a:t>
            </a:r>
            <a:endParaRPr lang="en-US" sz="1200" dirty="0"/>
          </a:p>
        </p:txBody>
      </p:sp>
      <p:sp>
        <p:nvSpPr>
          <p:cNvPr id="19" name="Shape 17"/>
          <p:cNvSpPr/>
          <p:nvPr/>
        </p:nvSpPr>
        <p:spPr>
          <a:xfrm>
            <a:off x="6156341" y="2114330"/>
            <a:ext cx="5194300" cy="2873772"/>
          </a:xfrm>
          <a:prstGeom prst="roundRect">
            <a:avLst>
              <a:gd name="adj" fmla="val 3535"/>
            </a:avLst>
          </a:prstGeom>
          <a:solidFill>
            <a:srgbClr val="153844"/>
          </a:solidFill>
          <a:ln/>
        </p:spPr>
      </p:sp>
      <p:sp>
        <p:nvSpPr>
          <p:cNvPr id="20" name="Text 18"/>
          <p:cNvSpPr/>
          <p:nvPr/>
        </p:nvSpPr>
        <p:spPr>
          <a:xfrm>
            <a:off x="6384941" y="2342930"/>
            <a:ext cx="4879213"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08A3C"/>
                </a:solidFill>
                <a:latin typeface="IBM Plex Sans" pitchFamily="34" charset="0"/>
                <a:ea typeface="IBM Plex Sans" pitchFamily="34" charset="-122"/>
                <a:cs typeface="IBM Plex Sans" pitchFamily="34" charset="-120"/>
              </a:rPr>
              <a:t>Unmet demand</a:t>
            </a:r>
            <a:endParaRPr lang="en-US" sz="1500" dirty="0"/>
          </a:p>
        </p:txBody>
      </p:sp>
      <p:sp>
        <p:nvSpPr>
          <p:cNvPr id="21" name="Text 19"/>
          <p:cNvSpPr/>
          <p:nvPr/>
        </p:nvSpPr>
        <p:spPr>
          <a:xfrm>
            <a:off x="6384941" y="2660430"/>
            <a:ext cx="4879213" cy="612114"/>
          </a:xfrm>
          <a:prstGeom prst="rect">
            <a:avLst/>
          </a:prstGeom>
          <a:noFill/>
          <a:ln/>
        </p:spPr>
        <p:txBody>
          <a:bodyPr wrap="square" lIns="0" tIns="0" rIns="0" bIns="0" rtlCol="0" anchor="t">
            <a:normAutofit/>
          </a:bodyPr>
          <a:lstStyle/>
          <a:p>
            <a:pPr marL="0" indent="0" algn="l">
              <a:lnSpc>
                <a:spcPts val="4620"/>
              </a:lnSpc>
              <a:buNone/>
            </a:pPr>
            <a:r>
              <a:rPr lang="en-US" sz="4400" b="1" dirty="0">
                <a:solidFill>
                  <a:srgbClr val="F4F1EA"/>
                </a:solidFill>
                <a:latin typeface="Fraunces" pitchFamily="18" charset="0"/>
                <a:ea typeface="Fraunces" pitchFamily="18" charset="-122"/>
                <a:cs typeface="Fraunces" pitchFamily="18" charset="-120"/>
              </a:rPr>
              <a:t>11 of 12</a:t>
            </a:r>
            <a:endParaRPr lang="en-US" sz="4400" dirty="0"/>
          </a:p>
        </p:txBody>
      </p:sp>
      <p:sp>
        <p:nvSpPr>
          <p:cNvPr id="22" name="Text 20"/>
          <p:cNvSpPr/>
          <p:nvPr/>
        </p:nvSpPr>
        <p:spPr>
          <a:xfrm>
            <a:off x="6384941" y="3336043"/>
            <a:ext cx="4879213" cy="239977"/>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B9C8CE"/>
                </a:solidFill>
                <a:latin typeface="IBM Plex Sans" pitchFamily="34" charset="0"/>
                <a:ea typeface="IBM Plex Sans" pitchFamily="34" charset="-122"/>
                <a:cs typeface="IBM Plex Sans" pitchFamily="34" charset="-120"/>
              </a:rPr>
              <a:t>cells with a significant gain (2.1% to 18.6%), none worse</a:t>
            </a:r>
            <a:endParaRPr lang="en-US" sz="1300" dirty="0"/>
          </a:p>
        </p:txBody>
      </p:sp>
      <p:sp>
        <p:nvSpPr>
          <p:cNvPr id="23" name="Text 21"/>
          <p:cNvSpPr/>
          <p:nvPr/>
        </p:nvSpPr>
        <p:spPr>
          <a:xfrm>
            <a:off x="6384941" y="3639520"/>
            <a:ext cx="304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C8CE"/>
                </a:solidFill>
                <a:latin typeface="IBM Plex Sans" pitchFamily="34" charset="0"/>
                <a:ea typeface="IBM Plex Sans" pitchFamily="34" charset="-122"/>
                <a:cs typeface="IBM Plex Sans" pitchFamily="34" charset="-120"/>
              </a:rPr>
              <a:t>D</a:t>
            </a:r>
            <a:endParaRPr lang="en-US" sz="1200" dirty="0"/>
          </a:p>
        </p:txBody>
      </p:sp>
      <p:sp>
        <p:nvSpPr>
          <p:cNvPr id="24" name="Shape 22"/>
          <p:cNvSpPr/>
          <p:nvPr/>
        </p:nvSpPr>
        <p:spPr>
          <a:xfrm>
            <a:off x="6740541" y="3657246"/>
            <a:ext cx="3149600" cy="177800"/>
          </a:xfrm>
          <a:prstGeom prst="roundRect">
            <a:avLst>
              <a:gd name="adj" fmla="val 21429"/>
            </a:avLst>
          </a:prstGeom>
          <a:solidFill>
            <a:srgbClr val="8A9AA3"/>
          </a:solidFill>
          <a:ln/>
        </p:spPr>
      </p:sp>
      <p:sp>
        <p:nvSpPr>
          <p:cNvPr id="25" name="Text 23"/>
          <p:cNvSpPr/>
          <p:nvPr/>
        </p:nvSpPr>
        <p:spPr>
          <a:xfrm>
            <a:off x="9991741" y="3639520"/>
            <a:ext cx="493633"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4F1EA"/>
                </a:solidFill>
                <a:latin typeface="IBM Plex Sans" pitchFamily="34" charset="0"/>
                <a:ea typeface="IBM Plex Sans" pitchFamily="34" charset="-122"/>
                <a:cs typeface="IBM Plex Sans" pitchFamily="34" charset="-120"/>
              </a:rPr>
              <a:t>0.347</a:t>
            </a:r>
            <a:endParaRPr lang="en-US" sz="1200" dirty="0"/>
          </a:p>
        </p:txBody>
      </p:sp>
      <p:sp>
        <p:nvSpPr>
          <p:cNvPr id="26" name="Text 24"/>
          <p:cNvSpPr/>
          <p:nvPr/>
        </p:nvSpPr>
        <p:spPr>
          <a:xfrm>
            <a:off x="6384941" y="3941741"/>
            <a:ext cx="304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C8CE"/>
                </a:solidFill>
                <a:latin typeface="IBM Plex Sans" pitchFamily="34" charset="0"/>
                <a:ea typeface="IBM Plex Sans" pitchFamily="34" charset="-122"/>
                <a:cs typeface="IBM Plex Sans" pitchFamily="34" charset="-120"/>
              </a:rPr>
              <a:t>A</a:t>
            </a:r>
            <a:endParaRPr lang="en-US" sz="1200" dirty="0"/>
          </a:p>
        </p:txBody>
      </p:sp>
      <p:sp>
        <p:nvSpPr>
          <p:cNvPr id="27" name="Shape 25"/>
          <p:cNvSpPr/>
          <p:nvPr/>
        </p:nvSpPr>
        <p:spPr>
          <a:xfrm>
            <a:off x="6740541" y="3959467"/>
            <a:ext cx="2724150" cy="177800"/>
          </a:xfrm>
          <a:prstGeom prst="roundRect">
            <a:avLst>
              <a:gd name="adj" fmla="val 21429"/>
            </a:avLst>
          </a:prstGeom>
          <a:solidFill>
            <a:srgbClr val="56B4E9"/>
          </a:solidFill>
          <a:ln/>
        </p:spPr>
      </p:sp>
      <p:sp>
        <p:nvSpPr>
          <p:cNvPr id="28" name="Text 26"/>
          <p:cNvSpPr/>
          <p:nvPr/>
        </p:nvSpPr>
        <p:spPr>
          <a:xfrm>
            <a:off x="9566291" y="3941741"/>
            <a:ext cx="493633"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4F1EA"/>
                </a:solidFill>
                <a:latin typeface="IBM Plex Sans" pitchFamily="34" charset="0"/>
                <a:ea typeface="IBM Plex Sans" pitchFamily="34" charset="-122"/>
                <a:cs typeface="IBM Plex Sans" pitchFamily="34" charset="-120"/>
              </a:rPr>
              <a:t>0.301</a:t>
            </a:r>
            <a:endParaRPr lang="en-US" sz="1200" dirty="0"/>
          </a:p>
        </p:txBody>
      </p:sp>
      <p:sp>
        <p:nvSpPr>
          <p:cNvPr id="29" name="Text 27"/>
          <p:cNvSpPr/>
          <p:nvPr/>
        </p:nvSpPr>
        <p:spPr>
          <a:xfrm>
            <a:off x="6384941" y="4243961"/>
            <a:ext cx="304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C8CE"/>
                </a:solidFill>
                <a:latin typeface="IBM Plex Sans" pitchFamily="34" charset="0"/>
                <a:ea typeface="IBM Plex Sans" pitchFamily="34" charset="-122"/>
                <a:cs typeface="IBM Plex Sans" pitchFamily="34" charset="-120"/>
              </a:rPr>
              <a:t>B</a:t>
            </a:r>
            <a:endParaRPr lang="en-US" sz="1200" dirty="0"/>
          </a:p>
        </p:txBody>
      </p:sp>
      <p:sp>
        <p:nvSpPr>
          <p:cNvPr id="30" name="Shape 28"/>
          <p:cNvSpPr/>
          <p:nvPr/>
        </p:nvSpPr>
        <p:spPr>
          <a:xfrm>
            <a:off x="6740541" y="4261687"/>
            <a:ext cx="2470150" cy="177800"/>
          </a:xfrm>
          <a:prstGeom prst="roundRect">
            <a:avLst>
              <a:gd name="adj" fmla="val 21429"/>
            </a:avLst>
          </a:prstGeom>
          <a:solidFill>
            <a:srgbClr val="F08A3C"/>
          </a:solidFill>
          <a:ln/>
        </p:spPr>
      </p:sp>
      <p:sp>
        <p:nvSpPr>
          <p:cNvPr id="31" name="Text 29"/>
          <p:cNvSpPr/>
          <p:nvPr/>
        </p:nvSpPr>
        <p:spPr>
          <a:xfrm>
            <a:off x="9312291" y="4243961"/>
            <a:ext cx="493633"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4F1EA"/>
                </a:solidFill>
                <a:latin typeface="IBM Plex Sans" pitchFamily="34" charset="0"/>
                <a:ea typeface="IBM Plex Sans" pitchFamily="34" charset="-122"/>
                <a:cs typeface="IBM Plex Sans" pitchFamily="34" charset="-120"/>
              </a:rPr>
              <a:t>0.273</a:t>
            </a:r>
            <a:endParaRPr lang="en-US" sz="1200" dirty="0"/>
          </a:p>
        </p:txBody>
      </p:sp>
      <p:sp>
        <p:nvSpPr>
          <p:cNvPr id="32" name="Text 30"/>
          <p:cNvSpPr/>
          <p:nvPr/>
        </p:nvSpPr>
        <p:spPr>
          <a:xfrm>
            <a:off x="6384941" y="4546181"/>
            <a:ext cx="487921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C8CE"/>
                </a:solidFill>
                <a:latin typeface="IBM Plex Sans" pitchFamily="34" charset="0"/>
                <a:ea typeface="IBM Plex Sans" pitchFamily="34" charset="-122"/>
                <a:cs typeface="IBM Plex Sans" pitchFamily="34" charset="-120"/>
              </a:rPr>
              <a:t>Mean unmet demand, θ = 1.3, 10% budget</a:t>
            </a:r>
            <a:endParaRPr lang="en-US" sz="1200" dirty="0"/>
          </a:p>
        </p:txBody>
      </p:sp>
      <p:sp>
        <p:nvSpPr>
          <p:cNvPr id="33" name="Shape 31"/>
          <p:cNvSpPr/>
          <p:nvPr/>
        </p:nvSpPr>
        <p:spPr>
          <a:xfrm>
            <a:off x="812800" y="5401578"/>
            <a:ext cx="50800" cy="257175"/>
          </a:xfrm>
          <a:prstGeom prst="roundRect">
            <a:avLst>
              <a:gd name="adj" fmla="val 50000"/>
            </a:avLst>
          </a:prstGeom>
          <a:solidFill>
            <a:srgbClr val="F08A3C"/>
          </a:solidFill>
          <a:ln/>
        </p:spPr>
      </p:sp>
      <p:sp>
        <p:nvSpPr>
          <p:cNvPr id="34" name="Text 32"/>
          <p:cNvSpPr/>
          <p:nvPr/>
        </p:nvSpPr>
        <p:spPr>
          <a:xfrm>
            <a:off x="990600" y="5401578"/>
            <a:ext cx="10700258" cy="282575"/>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F4F1EA"/>
                </a:solidFill>
                <a:latin typeface="IBM Plex Sans" pitchFamily="34" charset="0"/>
                <a:ea typeface="IBM Plex Sans" pitchFamily="34" charset="-122"/>
                <a:cs typeface="IBM Plex Sans" pitchFamily="34" charset="-120"/>
              </a:rPr>
              <a:t>Graph-based and risk-only differ on water delivery, not on pipe survival.</a:t>
            </a:r>
            <a:endParaRPr lang="en-US" sz="1500" dirty="0"/>
          </a:p>
        </p:txBody>
      </p:sp>
      <p:sp>
        <p:nvSpPr>
          <p:cNvPr id="35" name="Text 33"/>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C8CE"/>
                </a:solidFill>
                <a:latin typeface="IBM Plex Sans" pitchFamily="34" charset="0"/>
                <a:ea typeface="IBM Plex Sans" pitchFamily="34" charset="-122"/>
                <a:cs typeface="IBM Plex Sans" pitchFamily="34" charset="-120"/>
              </a:rPr>
              <a:t>Graph Theory research assignment · 4 / 6</a:t>
            </a:r>
            <a:endParaRPr lang="en-US" sz="12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2A35"/>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08A3C"/>
                </a:solidFill>
                <a:latin typeface="IBM Plex Sans" pitchFamily="34" charset="0"/>
                <a:ea typeface="IBM Plex Sans" pitchFamily="34" charset="-122"/>
                <a:cs typeface="IBM Plex Sans" pitchFamily="34" charset="-120"/>
              </a:rPr>
              <a:t>04 · Results</a:t>
            </a:r>
            <a:endParaRPr lang="en-US" sz="1300" dirty="0"/>
          </a:p>
        </p:txBody>
      </p:sp>
      <p:sp>
        <p:nvSpPr>
          <p:cNvPr id="3" name="Text 1"/>
          <p:cNvSpPr>
            <a:spLocks noGrp="1"/>
          </p:cNvSpPr>
          <p:nvPr>
            <p:ph type="title"/>
          </p:nvPr>
        </p:nvSpPr>
        <p:spPr>
          <a:xfrm>
            <a:off x="812800" y="1297914"/>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F4F1EA"/>
                </a:solidFill>
                <a:latin typeface="Fraunces" pitchFamily="18" charset="0"/>
                <a:ea typeface="Fraunces" pitchFamily="18" charset="-122"/>
                <a:cs typeface="Fraunces" pitchFamily="18" charset="-120"/>
              </a:rPr>
              <a:t>When does the graph score help?</a:t>
            </a:r>
            <a:endParaRPr lang="en-US" sz="3000" dirty="0"/>
          </a:p>
        </p:txBody>
      </p:sp>
      <p:sp>
        <p:nvSpPr>
          <p:cNvPr id="4" name="Shape 2"/>
          <p:cNvSpPr/>
          <p:nvPr/>
        </p:nvSpPr>
        <p:spPr>
          <a:xfrm>
            <a:off x="812800" y="1793214"/>
            <a:ext cx="762000" cy="25400"/>
          </a:xfrm>
          <a:prstGeom prst="rect">
            <a:avLst/>
          </a:prstGeom>
          <a:solidFill>
            <a:srgbClr val="F08A3C"/>
          </a:solidFill>
          <a:ln/>
        </p:spPr>
      </p:sp>
      <p:sp>
        <p:nvSpPr>
          <p:cNvPr id="5" name="Shape 3"/>
          <p:cNvSpPr/>
          <p:nvPr/>
        </p:nvSpPr>
        <p:spPr>
          <a:xfrm>
            <a:off x="812800" y="2212513"/>
            <a:ext cx="3403600" cy="2118188"/>
          </a:xfrm>
          <a:prstGeom prst="roundRect">
            <a:avLst>
              <a:gd name="adj" fmla="val 4797"/>
            </a:avLst>
          </a:prstGeom>
          <a:solidFill>
            <a:srgbClr val="153844"/>
          </a:solidFill>
          <a:ln/>
        </p:spPr>
      </p:sp>
      <p:sp>
        <p:nvSpPr>
          <p:cNvPr id="6" name="Text 4"/>
          <p:cNvSpPr/>
          <p:nvPr/>
        </p:nvSpPr>
        <p:spPr>
          <a:xfrm>
            <a:off x="1041400" y="2441113"/>
            <a:ext cx="303479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08A3C"/>
                </a:solidFill>
                <a:latin typeface="IBM Plex Sans" pitchFamily="34" charset="0"/>
                <a:ea typeface="IBM Plex Sans" pitchFamily="34" charset="-122"/>
                <a:cs typeface="IBM Plex Sans" pitchFamily="34" charset="-120"/>
              </a:rPr>
              <a:t>Rainfall</a:t>
            </a:r>
            <a:endParaRPr lang="en-US" sz="1500" dirty="0"/>
          </a:p>
        </p:txBody>
      </p:sp>
      <p:sp>
        <p:nvSpPr>
          <p:cNvPr id="7" name="Text 5"/>
          <p:cNvSpPr/>
          <p:nvPr/>
        </p:nvSpPr>
        <p:spPr>
          <a:xfrm>
            <a:off x="1041400" y="2758613"/>
            <a:ext cx="3034792" cy="388607"/>
          </a:xfrm>
          <a:prstGeom prst="rect">
            <a:avLst/>
          </a:prstGeom>
          <a:noFill/>
          <a:ln/>
        </p:spPr>
        <p:txBody>
          <a:bodyPr wrap="square" lIns="0" tIns="0" rIns="0" bIns="0" rtlCol="0" anchor="t">
            <a:normAutofit/>
          </a:bodyPr>
          <a:lstStyle/>
          <a:p>
            <a:pPr marL="0" indent="0" algn="l">
              <a:lnSpc>
                <a:spcPts val="2860"/>
              </a:lnSpc>
              <a:buNone/>
            </a:pPr>
            <a:r>
              <a:rPr lang="en-US" sz="2600" b="1" dirty="0">
                <a:solidFill>
                  <a:srgbClr val="F4F1EA"/>
                </a:solidFill>
                <a:latin typeface="Fraunces" pitchFamily="18" charset="0"/>
                <a:ea typeface="Fraunces" pitchFamily="18" charset="-122"/>
                <a:cs typeface="Fraunces" pitchFamily="18" charset="-120"/>
              </a:rPr>
              <a:t>18.6% → 6.0%</a:t>
            </a:r>
            <a:endParaRPr lang="en-US" sz="2600" dirty="0"/>
          </a:p>
        </p:txBody>
      </p:sp>
      <p:sp>
        <p:nvSpPr>
          <p:cNvPr id="8" name="Text 6"/>
          <p:cNvSpPr/>
          <p:nvPr/>
        </p:nvSpPr>
        <p:spPr>
          <a:xfrm>
            <a:off x="1041400" y="3210718"/>
            <a:ext cx="3034792"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B9C8CE"/>
                </a:solidFill>
                <a:latin typeface="IBM Plex Sans" pitchFamily="34" charset="0"/>
                <a:ea typeface="IBM Plex Sans" pitchFamily="34" charset="-122"/>
                <a:cs typeface="IBM Plex Sans" pitchFamily="34" charset="-120"/>
              </a:rPr>
              <a:t>Unmet-demand gain shrinks from θ = 0.7 to θ = 1.6 at a 10% budget.</a:t>
            </a:r>
            <a:endParaRPr lang="en-US" sz="1300" dirty="0"/>
          </a:p>
        </p:txBody>
      </p:sp>
      <p:sp>
        <p:nvSpPr>
          <p:cNvPr id="9" name="Shape 7"/>
          <p:cNvSpPr/>
          <p:nvPr/>
        </p:nvSpPr>
        <p:spPr>
          <a:xfrm>
            <a:off x="4394200" y="2212513"/>
            <a:ext cx="3403600" cy="2118188"/>
          </a:xfrm>
          <a:prstGeom prst="roundRect">
            <a:avLst>
              <a:gd name="adj" fmla="val 4797"/>
            </a:avLst>
          </a:prstGeom>
          <a:solidFill>
            <a:srgbClr val="153844"/>
          </a:solidFill>
          <a:ln/>
        </p:spPr>
      </p:sp>
      <p:sp>
        <p:nvSpPr>
          <p:cNvPr id="10" name="Text 8"/>
          <p:cNvSpPr/>
          <p:nvPr/>
        </p:nvSpPr>
        <p:spPr>
          <a:xfrm>
            <a:off x="4622800" y="2441113"/>
            <a:ext cx="303479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08A3C"/>
                </a:solidFill>
                <a:latin typeface="IBM Plex Sans" pitchFamily="34" charset="0"/>
                <a:ea typeface="IBM Plex Sans" pitchFamily="34" charset="-122"/>
                <a:cs typeface="IBM Plex Sans" pitchFamily="34" charset="-120"/>
              </a:rPr>
              <a:t>Risk quality</a:t>
            </a:r>
            <a:endParaRPr lang="en-US" sz="1500" dirty="0"/>
          </a:p>
        </p:txBody>
      </p:sp>
      <p:sp>
        <p:nvSpPr>
          <p:cNvPr id="11" name="Text 9"/>
          <p:cNvSpPr/>
          <p:nvPr/>
        </p:nvSpPr>
        <p:spPr>
          <a:xfrm>
            <a:off x="4622800" y="2758613"/>
            <a:ext cx="3034792" cy="388607"/>
          </a:xfrm>
          <a:prstGeom prst="rect">
            <a:avLst/>
          </a:prstGeom>
          <a:noFill/>
          <a:ln/>
        </p:spPr>
        <p:txBody>
          <a:bodyPr wrap="square" lIns="0" tIns="0" rIns="0" bIns="0" rtlCol="0" anchor="t">
            <a:normAutofit/>
          </a:bodyPr>
          <a:lstStyle/>
          <a:p>
            <a:pPr marL="0" indent="0" algn="l">
              <a:lnSpc>
                <a:spcPts val="2860"/>
              </a:lnSpc>
              <a:buNone/>
            </a:pPr>
            <a:r>
              <a:rPr lang="en-US" sz="2600" b="1" dirty="0">
                <a:solidFill>
                  <a:srgbClr val="F4F1EA"/>
                </a:solidFill>
                <a:latin typeface="Fraunces" pitchFamily="18" charset="0"/>
                <a:ea typeface="Fraunces" pitchFamily="18" charset="-122"/>
                <a:cs typeface="Fraunces" pitchFamily="18" charset="-120"/>
              </a:rPr>
              <a:t>+2.0% to +2.9%</a:t>
            </a:r>
            <a:endParaRPr lang="en-US" sz="2600" dirty="0"/>
          </a:p>
        </p:txBody>
      </p:sp>
      <p:sp>
        <p:nvSpPr>
          <p:cNvPr id="12" name="Text 10"/>
          <p:cNvSpPr/>
          <p:nvPr/>
        </p:nvSpPr>
        <p:spPr>
          <a:xfrm>
            <a:off x="4622800" y="3210718"/>
            <a:ext cx="3034792" cy="693936"/>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B9C8CE"/>
                </a:solidFill>
                <a:latin typeface="IBM Plex Sans" pitchFamily="34" charset="0"/>
                <a:ea typeface="IBM Plex Sans" pitchFamily="34" charset="-122"/>
                <a:cs typeface="IBM Plex Sans" pitchFamily="34" charset="-120"/>
              </a:rPr>
              <a:t>Failed-pipe gain appears only with noisy or structure-linked risk; +0.9% (not significant) when risk is accurate.</a:t>
            </a:r>
            <a:endParaRPr lang="en-US" sz="1300" dirty="0"/>
          </a:p>
        </p:txBody>
      </p:sp>
      <p:sp>
        <p:nvSpPr>
          <p:cNvPr id="13" name="Shape 11"/>
          <p:cNvSpPr/>
          <p:nvPr/>
        </p:nvSpPr>
        <p:spPr>
          <a:xfrm>
            <a:off x="7975600" y="2212513"/>
            <a:ext cx="3403600" cy="2118188"/>
          </a:xfrm>
          <a:prstGeom prst="roundRect">
            <a:avLst>
              <a:gd name="adj" fmla="val 4797"/>
            </a:avLst>
          </a:prstGeom>
          <a:solidFill>
            <a:srgbClr val="153844"/>
          </a:solidFill>
          <a:ln/>
        </p:spPr>
      </p:sp>
      <p:sp>
        <p:nvSpPr>
          <p:cNvPr id="14" name="Text 12"/>
          <p:cNvSpPr/>
          <p:nvPr/>
        </p:nvSpPr>
        <p:spPr>
          <a:xfrm>
            <a:off x="8204200" y="2441113"/>
            <a:ext cx="303479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08A3C"/>
                </a:solidFill>
                <a:latin typeface="IBM Plex Sans" pitchFamily="34" charset="0"/>
                <a:ea typeface="IBM Plex Sans" pitchFamily="34" charset="-122"/>
                <a:cs typeface="IBM Plex Sans" pitchFamily="34" charset="-120"/>
              </a:rPr>
              <a:t>Critical pipes</a:t>
            </a:r>
            <a:endParaRPr lang="en-US" sz="1500" dirty="0"/>
          </a:p>
        </p:txBody>
      </p:sp>
      <p:sp>
        <p:nvSpPr>
          <p:cNvPr id="15" name="Text 13"/>
          <p:cNvSpPr/>
          <p:nvPr/>
        </p:nvSpPr>
        <p:spPr>
          <a:xfrm>
            <a:off x="8204200" y="2758613"/>
            <a:ext cx="3034792" cy="388607"/>
          </a:xfrm>
          <a:prstGeom prst="rect">
            <a:avLst/>
          </a:prstGeom>
          <a:noFill/>
          <a:ln/>
        </p:spPr>
        <p:txBody>
          <a:bodyPr wrap="square" lIns="0" tIns="0" rIns="0" bIns="0" rtlCol="0" anchor="t">
            <a:normAutofit/>
          </a:bodyPr>
          <a:lstStyle/>
          <a:p>
            <a:pPr marL="0" indent="0" algn="l">
              <a:lnSpc>
                <a:spcPts val="2860"/>
              </a:lnSpc>
              <a:buNone/>
            </a:pPr>
            <a:r>
              <a:rPr lang="en-US" sz="2600" b="1" dirty="0">
                <a:solidFill>
                  <a:srgbClr val="F4F1EA"/>
                </a:solidFill>
                <a:latin typeface="Fraunces" pitchFamily="18" charset="0"/>
                <a:ea typeface="Fraunces" pitchFamily="18" charset="-122"/>
                <a:cs typeface="Fraunces" pitchFamily="18" charset="-120"/>
              </a:rPr>
              <a:t>ρ = 0.42</a:t>
            </a:r>
            <a:endParaRPr lang="en-US" sz="2600" dirty="0"/>
          </a:p>
        </p:txBody>
      </p:sp>
      <p:sp>
        <p:nvSpPr>
          <p:cNvPr id="16" name="Text 14"/>
          <p:cNvSpPr/>
          <p:nvPr/>
        </p:nvSpPr>
        <p:spPr>
          <a:xfrm>
            <a:off x="8204200" y="3210718"/>
            <a:ext cx="3034792" cy="91678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B9C8CE"/>
                </a:solidFill>
                <a:latin typeface="IBM Plex Sans" pitchFamily="34" charset="0"/>
                <a:ea typeface="IBM Plex Sans" pitchFamily="34" charset="-122"/>
                <a:cs typeface="IBM Plex Sans" pitchFamily="34" charset="-120"/>
              </a:rPr>
              <a:t>Betweenness vs true single-pipe impact; load and risk near 0. Top-10% critical pipes found: B 20%, E 13%, A 7%.</a:t>
            </a:r>
            <a:endParaRPr lang="en-US" sz="1300" dirty="0"/>
          </a:p>
        </p:txBody>
      </p:sp>
      <p:sp>
        <p:nvSpPr>
          <p:cNvPr id="17" name="Shape 15"/>
          <p:cNvSpPr/>
          <p:nvPr/>
        </p:nvSpPr>
        <p:spPr>
          <a:xfrm>
            <a:off x="818134" y="5054799"/>
            <a:ext cx="50800" cy="257175"/>
          </a:xfrm>
          <a:prstGeom prst="roundRect">
            <a:avLst>
              <a:gd name="adj" fmla="val 50000"/>
            </a:avLst>
          </a:prstGeom>
          <a:solidFill>
            <a:srgbClr val="F08A3C"/>
          </a:solidFill>
          <a:ln/>
        </p:spPr>
      </p:sp>
      <p:sp>
        <p:nvSpPr>
          <p:cNvPr id="18" name="Text 16"/>
          <p:cNvSpPr/>
          <p:nvPr/>
        </p:nvSpPr>
        <p:spPr>
          <a:xfrm>
            <a:off x="995934" y="5054799"/>
            <a:ext cx="10700258" cy="282575"/>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F4F1EA"/>
                </a:solidFill>
                <a:latin typeface="IBM Plex Sans" pitchFamily="34" charset="0"/>
                <a:ea typeface="IBM Plex Sans" pitchFamily="34" charset="-122"/>
                <a:cs typeface="IBM Plex Sans" pitchFamily="34" charset="-120"/>
              </a:rPr>
              <a:t>Trial by trial at θ = 1.6, B beats A in 21% of trials, loses in 26% and ties in 53%.</a:t>
            </a:r>
            <a:endParaRPr lang="en-US" sz="1500" dirty="0"/>
          </a:p>
        </p:txBody>
      </p:sp>
      <p:sp>
        <p:nvSpPr>
          <p:cNvPr id="19" name="Text 17"/>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C8CE"/>
                </a:solidFill>
                <a:latin typeface="IBM Plex Sans" pitchFamily="34" charset="0"/>
                <a:ea typeface="IBM Plex Sans" pitchFamily="34" charset="-122"/>
                <a:cs typeface="IBM Plex Sans" pitchFamily="34" charset="-120"/>
              </a:rPr>
              <a:t>Graph Theory research assignment · 5 / 6</a:t>
            </a:r>
            <a:endParaRPr lang="en-US" sz="12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2A35"/>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08A3C"/>
                </a:solidFill>
                <a:latin typeface="IBM Plex Sans" pitchFamily="34" charset="0"/>
                <a:ea typeface="IBM Plex Sans" pitchFamily="34" charset="-122"/>
                <a:cs typeface="IBM Plex Sans" pitchFamily="34" charset="-120"/>
              </a:rPr>
              <a:t>05 · Discussion and conclusion</a:t>
            </a:r>
            <a:endParaRPr lang="en-US" sz="1300" dirty="0"/>
          </a:p>
        </p:txBody>
      </p:sp>
      <p:sp>
        <p:nvSpPr>
          <p:cNvPr id="3" name="Text 1"/>
          <p:cNvSpPr>
            <a:spLocks noGrp="1"/>
          </p:cNvSpPr>
          <p:nvPr>
            <p:ph type="title"/>
          </p:nvPr>
        </p:nvSpPr>
        <p:spPr>
          <a:xfrm>
            <a:off x="807466" y="1325728"/>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F4F1EA"/>
                </a:solidFill>
                <a:latin typeface="Fraunces" pitchFamily="18" charset="0"/>
                <a:ea typeface="Fraunces" pitchFamily="18" charset="-122"/>
                <a:cs typeface="Fraunces" pitchFamily="18" charset="-120"/>
              </a:rPr>
              <a:t>Structure protects delivery, risk protects pipes</a:t>
            </a:r>
            <a:endParaRPr lang="en-US" sz="3000" dirty="0"/>
          </a:p>
        </p:txBody>
      </p:sp>
      <p:sp>
        <p:nvSpPr>
          <p:cNvPr id="4" name="Shape 2"/>
          <p:cNvSpPr/>
          <p:nvPr/>
        </p:nvSpPr>
        <p:spPr>
          <a:xfrm>
            <a:off x="807466" y="1821028"/>
            <a:ext cx="762000" cy="25400"/>
          </a:xfrm>
          <a:prstGeom prst="rect">
            <a:avLst/>
          </a:prstGeom>
          <a:solidFill>
            <a:srgbClr val="F08A3C"/>
          </a:solidFill>
          <a:ln/>
        </p:spPr>
      </p:sp>
      <p:sp>
        <p:nvSpPr>
          <p:cNvPr id="5" name="Shape 3"/>
          <p:cNvSpPr/>
          <p:nvPr/>
        </p:nvSpPr>
        <p:spPr>
          <a:xfrm>
            <a:off x="807466" y="2488649"/>
            <a:ext cx="3403600" cy="1666081"/>
          </a:xfrm>
          <a:prstGeom prst="roundRect">
            <a:avLst>
              <a:gd name="adj" fmla="val 6098"/>
            </a:avLst>
          </a:prstGeom>
          <a:solidFill>
            <a:srgbClr val="153844"/>
          </a:solidFill>
          <a:ln/>
        </p:spPr>
      </p:sp>
      <p:sp>
        <p:nvSpPr>
          <p:cNvPr id="6" name="Text 4"/>
          <p:cNvSpPr/>
          <p:nvPr/>
        </p:nvSpPr>
        <p:spPr>
          <a:xfrm>
            <a:off x="1036066" y="2717249"/>
            <a:ext cx="303479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08A3C"/>
                </a:solidFill>
                <a:latin typeface="IBM Plex Sans" pitchFamily="34" charset="0"/>
                <a:ea typeface="IBM Plex Sans" pitchFamily="34" charset="-122"/>
                <a:cs typeface="IBM Plex Sans" pitchFamily="34" charset="-120"/>
              </a:rPr>
              <a:t>Why</a:t>
            </a:r>
            <a:endParaRPr lang="en-US" sz="1500" dirty="0"/>
          </a:p>
        </p:txBody>
      </p:sp>
      <p:sp>
        <p:nvSpPr>
          <p:cNvPr id="7" name="Text 5"/>
          <p:cNvSpPr/>
          <p:nvPr/>
        </p:nvSpPr>
        <p:spPr>
          <a:xfrm>
            <a:off x="1036066" y="3034749"/>
            <a:ext cx="3034792" cy="91678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F4F1EA"/>
                </a:solidFill>
                <a:latin typeface="IBM Plex Sans" pitchFamily="34" charset="0"/>
                <a:ea typeface="IBM Plex Sans" pitchFamily="34" charset="-122"/>
                <a:cs typeface="IBM Plex Sans" pitchFamily="34" charset="-120"/>
              </a:rPr>
              <a:t>Risk-only targets the random blockages behind failed pipes; the structural score targets pipes whose loss cuts off demand.</a:t>
            </a:r>
            <a:endParaRPr lang="en-US" sz="1300" dirty="0"/>
          </a:p>
        </p:txBody>
      </p:sp>
      <p:sp>
        <p:nvSpPr>
          <p:cNvPr id="8" name="Shape 6"/>
          <p:cNvSpPr/>
          <p:nvPr/>
        </p:nvSpPr>
        <p:spPr>
          <a:xfrm>
            <a:off x="4388866" y="2488649"/>
            <a:ext cx="3403600" cy="1666081"/>
          </a:xfrm>
          <a:prstGeom prst="roundRect">
            <a:avLst>
              <a:gd name="adj" fmla="val 6098"/>
            </a:avLst>
          </a:prstGeom>
          <a:solidFill>
            <a:srgbClr val="153844"/>
          </a:solidFill>
          <a:ln/>
        </p:spPr>
      </p:sp>
      <p:sp>
        <p:nvSpPr>
          <p:cNvPr id="9" name="Text 7"/>
          <p:cNvSpPr/>
          <p:nvPr/>
        </p:nvSpPr>
        <p:spPr>
          <a:xfrm>
            <a:off x="4617466" y="2717249"/>
            <a:ext cx="303479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08A3C"/>
                </a:solidFill>
                <a:latin typeface="IBM Plex Sans" pitchFamily="34" charset="0"/>
                <a:ea typeface="IBM Plex Sans" pitchFamily="34" charset="-122"/>
                <a:cs typeface="IBM Plex Sans" pitchFamily="34" charset="-120"/>
              </a:rPr>
              <a:t>Limits</a:t>
            </a:r>
            <a:endParaRPr lang="en-US" sz="1500" dirty="0"/>
          </a:p>
        </p:txBody>
      </p:sp>
      <p:sp>
        <p:nvSpPr>
          <p:cNvPr id="10" name="Text 8"/>
          <p:cNvSpPr/>
          <p:nvPr/>
        </p:nvSpPr>
        <p:spPr>
          <a:xfrm>
            <a:off x="4617466" y="3034749"/>
            <a:ext cx="3034792" cy="91678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F4F1EA"/>
                </a:solidFill>
                <a:latin typeface="IBM Plex Sans" pitchFamily="34" charset="0"/>
                <a:ea typeface="IBM Plex Sans" pitchFamily="34" charset="-122"/>
                <a:cs typeface="IBM Plex Sans" pitchFamily="34" charset="-120"/>
              </a:rPr>
              <a:t>Synthetic networks, simplified routing, assumed parameters. The unmet-demand gain is partly built into the model. Not real flood prevention.</a:t>
            </a:r>
            <a:endParaRPr lang="en-US" sz="1300" dirty="0"/>
          </a:p>
        </p:txBody>
      </p:sp>
      <p:sp>
        <p:nvSpPr>
          <p:cNvPr id="11" name="Shape 9"/>
          <p:cNvSpPr/>
          <p:nvPr/>
        </p:nvSpPr>
        <p:spPr>
          <a:xfrm>
            <a:off x="7970266" y="2488649"/>
            <a:ext cx="3403600" cy="1666081"/>
          </a:xfrm>
          <a:prstGeom prst="roundRect">
            <a:avLst>
              <a:gd name="adj" fmla="val 6098"/>
            </a:avLst>
          </a:prstGeom>
          <a:solidFill>
            <a:srgbClr val="153844"/>
          </a:solidFill>
          <a:ln/>
        </p:spPr>
      </p:sp>
      <p:sp>
        <p:nvSpPr>
          <p:cNvPr id="12" name="Text 10"/>
          <p:cNvSpPr/>
          <p:nvPr/>
        </p:nvSpPr>
        <p:spPr>
          <a:xfrm>
            <a:off x="8198866" y="2717249"/>
            <a:ext cx="303479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08A3C"/>
                </a:solidFill>
                <a:latin typeface="IBM Plex Sans" pitchFamily="34" charset="0"/>
                <a:ea typeface="IBM Plex Sans" pitchFamily="34" charset="-122"/>
                <a:cs typeface="IBM Plex Sans" pitchFamily="34" charset="-120"/>
              </a:rPr>
              <a:t>Next</a:t>
            </a:r>
            <a:endParaRPr lang="en-US" sz="1500" dirty="0"/>
          </a:p>
        </p:txBody>
      </p:sp>
      <p:sp>
        <p:nvSpPr>
          <p:cNvPr id="13" name="Text 11"/>
          <p:cNvSpPr/>
          <p:nvPr/>
        </p:nvSpPr>
        <p:spPr>
          <a:xfrm>
            <a:off x="8198866" y="3034749"/>
            <a:ext cx="3034792" cy="693936"/>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F4F1EA"/>
                </a:solidFill>
                <a:latin typeface="IBM Plex Sans" pitchFamily="34" charset="0"/>
                <a:ea typeface="IBM Plex Sans" pitchFamily="34" charset="-122"/>
                <a:cs typeface="IBM Plex Sans" pitchFamily="34" charset="-120"/>
              </a:rPr>
              <a:t>Real network data, SWMM validation, junction and pump failures, direct optimisation of the pipe set.</a:t>
            </a:r>
            <a:endParaRPr lang="en-US" sz="1300" dirty="0"/>
          </a:p>
        </p:txBody>
      </p:sp>
      <p:sp>
        <p:nvSpPr>
          <p:cNvPr id="14" name="Shape 12"/>
          <p:cNvSpPr/>
          <p:nvPr/>
        </p:nvSpPr>
        <p:spPr>
          <a:xfrm>
            <a:off x="812800" y="4913511"/>
            <a:ext cx="50800" cy="257175"/>
          </a:xfrm>
          <a:prstGeom prst="roundRect">
            <a:avLst>
              <a:gd name="adj" fmla="val 50000"/>
            </a:avLst>
          </a:prstGeom>
          <a:solidFill>
            <a:srgbClr val="F08A3C"/>
          </a:solidFill>
          <a:ln/>
        </p:spPr>
      </p:sp>
      <p:sp>
        <p:nvSpPr>
          <p:cNvPr id="15" name="Text 13"/>
          <p:cNvSpPr/>
          <p:nvPr/>
        </p:nvSpPr>
        <p:spPr>
          <a:xfrm>
            <a:off x="990600" y="4913511"/>
            <a:ext cx="10700258" cy="282575"/>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F4F1EA"/>
                </a:solidFill>
                <a:latin typeface="IBM Plex Sans" pitchFamily="34" charset="0"/>
                <a:ea typeface="IBM Plex Sans" pitchFamily="34" charset="-122"/>
                <a:cs typeface="IBM Plex Sans" pitchFamily="34" charset="-120"/>
              </a:rPr>
              <a:t>Answer: partly. Risk plus structure did not cut failed pipes significantly, but it cut unmet demand in 11 of 12 cells.</a:t>
            </a:r>
            <a:endParaRPr lang="en-US" sz="1500" dirty="0"/>
          </a:p>
        </p:txBody>
      </p:sp>
      <p:sp>
        <p:nvSpPr>
          <p:cNvPr id="16" name="Text 14"/>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C8CE"/>
                </a:solidFill>
                <a:latin typeface="IBM Plex Sans" pitchFamily="34" charset="0"/>
                <a:ea typeface="IBM Plex Sans" pitchFamily="34" charset="-122"/>
                <a:cs typeface="IBM Plex Sans" pitchFamily="34" charset="-120"/>
              </a:rPr>
              <a:t>Graph Theory research assignment · 6 / 6</a:t>
            </a:r>
            <a:endParaRPr lang="en-US" sz="12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Cascading Failures in Urban Drainage: A Graph-Theory Study">
  <a:themeElements>
    <a:clrScheme name="Cascading Failures in Urban Drainage: A Graph-Theory Study">
      <a:dk1>
        <a:srgbClr val="0E2A35"/>
      </a:dk1>
      <a:lt1>
        <a:srgbClr val="F4F1EA"/>
      </a:lt1>
      <a:dk2>
        <a:srgbClr val="253E47"/>
      </a:dk2>
      <a:lt2>
        <a:srgbClr val="BBBFBD"/>
      </a:lt2>
      <a:accent1>
        <a:srgbClr val="F08A3C"/>
      </a:accent1>
      <a:accent2>
        <a:srgbClr val="56B4E9"/>
      </a:accent2>
      <a:accent3>
        <a:srgbClr val="B9C8CE"/>
      </a:accent3>
      <a:accent4>
        <a:srgbClr val="8A9AA3"/>
      </a:accent4>
      <a:accent5>
        <a:srgbClr val="9AA0A6"/>
      </a:accent5>
      <a:accent6>
        <a:srgbClr val="98A1A2"/>
      </a:accent6>
      <a:hlink>
        <a:srgbClr val="0563C1"/>
      </a:hlink>
      <a:folHlink>
        <a:srgbClr val="954F72"/>
      </a:folHlink>
    </a:clrScheme>
    <a:fontScheme name="Cascading Failures in Urban Drainage: A Graph-Theory Study">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937</Words>
  <Application>Microsoft Office PowerPoint</Application>
  <PresentationFormat>Widescreen</PresentationFormat>
  <Paragraphs>100</Paragraphs>
  <Slides>6</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Fraunces</vt:lpstr>
      <vt:lpstr>Calibri</vt:lpstr>
      <vt:lpstr>IBM Plex Sans</vt:lpstr>
      <vt:lpstr>Arial</vt:lpstr>
      <vt:lpstr>Cascading Failures in Urban Drainage: A Graph-Theory Study</vt:lpstr>
      <vt:lpstr>Stopping the chain reaction in drainage</vt:lpstr>
      <vt:lpstr>What exists, and what is missing</vt:lpstr>
      <vt:lpstr>Simulate cascades, test five strategies</vt:lpstr>
      <vt:lpstr>Fewer cut-off areas, not fewer failed pipes</vt:lpstr>
      <vt:lpstr>When does the graph score help?</vt:lpstr>
      <vt:lpstr>Structure protects delivery, risk protects pipes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Cascading Failures in Urban Drainage: A Graph-Theory Study</dc:title>
  <dc:subject/>
  <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Fraunces
Copyright 2018 The Fraunces Project Authors (https://github.com/undercasetype/Fraunces)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cp:lastModifiedBy>Pooja</cp:lastModifiedBy>
  <cp:revision>2</cp:revision>
  <dcterms:created xsi:type="dcterms:W3CDTF">2026-10-29T02:40:28Z</dcterms:created>
  <dcterms:modified xsi:type="dcterms:W3CDTF">2026-10-29T15:47:37Z</dcterms:modified>
</cp:coreProperties>
</file>